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Gelasio"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3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030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hyperlink" Target="https://eudl.eu/pdf/10.4108/eai.23-11-2023.2343338?/"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051572"/>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Image based Breed Recognition for Cattle and Buffaloes of India</a:t>
            </a:r>
            <a:endParaRPr lang="en-US" sz="4450" dirty="0"/>
          </a:p>
        </p:txBody>
      </p:sp>
      <p:sp>
        <p:nvSpPr>
          <p:cNvPr id="4" name="Rectangle 3">
            <a:extLst>
              <a:ext uri="{FF2B5EF4-FFF2-40B4-BE49-F238E27FC236}">
                <a16:creationId xmlns:a16="http://schemas.microsoft.com/office/drawing/2014/main" id="{80133DC9-5E1B-E6C9-EF4C-573D0F90A06B}"/>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5441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Problem Statement</a:t>
            </a:r>
            <a:endParaRPr lang="en-US" sz="4450" dirty="0"/>
          </a:p>
        </p:txBody>
      </p:sp>
      <p:sp>
        <p:nvSpPr>
          <p:cNvPr id="3" name="Text 1"/>
          <p:cNvSpPr/>
          <p:nvPr/>
        </p:nvSpPr>
        <p:spPr>
          <a:xfrm>
            <a:off x="793790" y="3116818"/>
            <a:ext cx="13042821" cy="1451610"/>
          </a:xfrm>
          <a:prstGeom prst="rect">
            <a:avLst/>
          </a:prstGeom>
          <a:noFill/>
          <a:ln/>
        </p:spPr>
        <p:txBody>
          <a:bodyPr wrap="square" lIns="0" tIns="0" rIns="0" bIns="0" rtlCol="0" anchor="t"/>
          <a:lstStyle/>
          <a:p>
            <a:pPr marL="0" indent="0" algn="l">
              <a:lnSpc>
                <a:spcPts val="2850"/>
              </a:lnSpc>
              <a:buNone/>
            </a:pPr>
            <a:r>
              <a:rPr lang="en-US" sz="2000" dirty="0">
                <a:solidFill>
                  <a:srgbClr val="C9C2C0"/>
                </a:solidFill>
                <a:latin typeface="Gelasio" pitchFamily="34" charset="0"/>
                <a:ea typeface="Gelasio" pitchFamily="34" charset="-122"/>
                <a:cs typeface="Gelasio" pitchFamily="34" charset="-120"/>
              </a:rPr>
              <a:t>Cattle farming plays a vital role in global agriculture and the economy, but one of its persistent challenges is the accurate and efficient classification of cattle breeds. Cattle breed identification is a critical task in livestock management, breeding programs, and disease prevention. However, traditional methods rely heavily on visual inspection, which is subjective, slow, and often inaccurate.</a:t>
            </a:r>
            <a:endParaRPr lang="en-US" sz="2000" dirty="0"/>
          </a:p>
        </p:txBody>
      </p:sp>
      <p:sp>
        <p:nvSpPr>
          <p:cNvPr id="4" name="Text 2"/>
          <p:cNvSpPr/>
          <p:nvPr/>
        </p:nvSpPr>
        <p:spPr>
          <a:xfrm>
            <a:off x="793790" y="4823579"/>
            <a:ext cx="13042821" cy="1451610"/>
          </a:xfrm>
          <a:prstGeom prst="rect">
            <a:avLst/>
          </a:prstGeom>
          <a:noFill/>
          <a:ln/>
        </p:spPr>
        <p:txBody>
          <a:bodyPr wrap="square" lIns="0" tIns="0" rIns="0" bIns="0" rtlCol="0" anchor="t"/>
          <a:lstStyle/>
          <a:p>
            <a:pPr marL="0" indent="0" algn="l">
              <a:lnSpc>
                <a:spcPts val="2850"/>
              </a:lnSpc>
              <a:buNone/>
            </a:pPr>
            <a:r>
              <a:rPr lang="en-US" sz="2000" dirty="0">
                <a:solidFill>
                  <a:srgbClr val="C9C2C0"/>
                </a:solidFill>
                <a:latin typeface="Gelasio" pitchFamily="34" charset="0"/>
                <a:ea typeface="Gelasio" pitchFamily="34" charset="-122"/>
                <a:cs typeface="Gelasio" pitchFamily="34" charset="-120"/>
              </a:rPr>
              <a:t>This creates inconsistencies in breed classification, leading to challenges in ensuring proper vaccination, maintaining genetic diversity, and optimizing farm productivity. Moreover, variations in cattle appearance across regions, poor-quality datasets, and the absence of standardized classification methods further complicate the process. The lack of a reliable and efficient system for cattle breed classification continues to hinder effective livestock management and agricultural decision-making.</a:t>
            </a:r>
            <a:endParaRPr lang="en-US" sz="2000" dirty="0"/>
          </a:p>
        </p:txBody>
      </p:sp>
      <p:sp>
        <p:nvSpPr>
          <p:cNvPr id="5" name="Rectangle 4">
            <a:extLst>
              <a:ext uri="{FF2B5EF4-FFF2-40B4-BE49-F238E27FC236}">
                <a16:creationId xmlns:a16="http://schemas.microsoft.com/office/drawing/2014/main" id="{68675AAF-0D77-EDD1-1B8F-D7F39AE6251C}"/>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7296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Aim/Objective</a:t>
            </a:r>
            <a:endParaRPr lang="en-US" sz="4450" dirty="0"/>
          </a:p>
        </p:txBody>
      </p:sp>
      <p:sp>
        <p:nvSpPr>
          <p:cNvPr id="3" name="Text 1"/>
          <p:cNvSpPr/>
          <p:nvPr/>
        </p:nvSpPr>
        <p:spPr>
          <a:xfrm>
            <a:off x="793790" y="2935367"/>
            <a:ext cx="13042821" cy="1088708"/>
          </a:xfrm>
          <a:prstGeom prst="rect">
            <a:avLst/>
          </a:prstGeom>
          <a:noFill/>
          <a:ln/>
        </p:spPr>
        <p:txBody>
          <a:bodyPr wrap="square" lIns="0" tIns="0" rIns="0" bIns="0" rtlCol="0" anchor="t"/>
          <a:lstStyle/>
          <a:p>
            <a:pPr marL="0" indent="0" algn="l">
              <a:lnSpc>
                <a:spcPts val="2850"/>
              </a:lnSpc>
              <a:buNone/>
            </a:pPr>
            <a:r>
              <a:rPr lang="en-US" sz="2000" dirty="0">
                <a:solidFill>
                  <a:srgbClr val="C9C2C0"/>
                </a:solidFill>
                <a:latin typeface="Gelasio" pitchFamily="34" charset="0"/>
                <a:ea typeface="Gelasio" pitchFamily="34" charset="-122"/>
                <a:cs typeface="Gelasio" pitchFamily="34" charset="-120"/>
              </a:rPr>
              <a:t>The objective of this study is to systematically evaluate and compare various machine learning frameworks and algorithms for cattle breed classification using image datasets. This work is undertaken to address the limitations of traditional visual inspection methods, which are subjective, inconsistent, and time-consuming.</a:t>
            </a:r>
            <a:endParaRPr lang="en-US" sz="2000" dirty="0"/>
          </a:p>
        </p:txBody>
      </p:sp>
      <p:sp>
        <p:nvSpPr>
          <p:cNvPr id="4" name="Text 2"/>
          <p:cNvSpPr/>
          <p:nvPr/>
        </p:nvSpPr>
        <p:spPr>
          <a:xfrm>
            <a:off x="793790" y="4279225"/>
            <a:ext cx="13042821" cy="2177415"/>
          </a:xfrm>
          <a:prstGeom prst="rect">
            <a:avLst/>
          </a:prstGeom>
          <a:noFill/>
          <a:ln/>
        </p:spPr>
        <p:txBody>
          <a:bodyPr wrap="square" lIns="0" tIns="0" rIns="0" bIns="0" rtlCol="0" anchor="t"/>
          <a:lstStyle/>
          <a:p>
            <a:pPr marL="0" indent="0" algn="l">
              <a:lnSpc>
                <a:spcPts val="2850"/>
              </a:lnSpc>
              <a:buNone/>
            </a:pPr>
            <a:r>
              <a:rPr lang="en-US" sz="2000" dirty="0">
                <a:solidFill>
                  <a:srgbClr val="C9C2C0"/>
                </a:solidFill>
                <a:latin typeface="Gelasio" pitchFamily="34" charset="0"/>
                <a:ea typeface="Gelasio" pitchFamily="34" charset="-122"/>
                <a:cs typeface="Gelasio" pitchFamily="34" charset="-120"/>
              </a:rPr>
              <a:t>By benchmarking models such as ResNet, CNN, SVM, Random Forest, KNN, PCA, and PyTorch-based architectures against key performance metrics (accuracy, precision, recall, F1-score, ROC, learning curves, and confusion matrices), the study seeks to identify the most effective and reliable methods for breed identification. The purpose of this evaluation is to provide clear, evidence-based insights that can guide livestock researchers, farmers, and industry stakeholders in adopting accurate and efficient breed classification systems, ultimately improving cattle management, breeding practices, disease prevention, and agricultural decision-making.</a:t>
            </a:r>
            <a:endParaRPr lang="en-US" sz="2000" dirty="0"/>
          </a:p>
        </p:txBody>
      </p:sp>
      <p:sp>
        <p:nvSpPr>
          <p:cNvPr id="5" name="Rectangle 4">
            <a:extLst>
              <a:ext uri="{FF2B5EF4-FFF2-40B4-BE49-F238E27FC236}">
                <a16:creationId xmlns:a16="http://schemas.microsoft.com/office/drawing/2014/main" id="{03A0CB7A-C053-FB33-D88A-DAC7E6093519}"/>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12532"/>
            <a:ext cx="10984944" cy="708779"/>
          </a:xfrm>
          <a:prstGeom prst="rect">
            <a:avLst/>
          </a:prstGeom>
          <a:noFill/>
          <a:ln/>
        </p:spPr>
        <p:txBody>
          <a:bodyPr wrap="non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Methodology: Data Collection &amp; Annotation</a:t>
            </a:r>
            <a:endParaRPr lang="en-US" sz="4450" dirty="0"/>
          </a:p>
        </p:txBody>
      </p:sp>
      <p:pic>
        <p:nvPicPr>
          <p:cNvPr id="3" name="Image 0" descr="preencoded.png"/>
          <p:cNvPicPr>
            <a:picLocks noChangeAspect="1"/>
          </p:cNvPicPr>
          <p:nvPr/>
        </p:nvPicPr>
        <p:blipFill>
          <a:blip r:embed="rId3"/>
          <a:stretch>
            <a:fillRect/>
          </a:stretch>
        </p:blipFill>
        <p:spPr>
          <a:xfrm>
            <a:off x="2243852" y="2374940"/>
            <a:ext cx="10142696" cy="4642009"/>
          </a:xfrm>
          <a:prstGeom prst="rect">
            <a:avLst/>
          </a:prstGeom>
        </p:spPr>
      </p:pic>
      <p:pic>
        <p:nvPicPr>
          <p:cNvPr id="4" name="Image 1" descr="preencoded.png"/>
          <p:cNvPicPr>
            <a:picLocks noChangeAspect="1"/>
          </p:cNvPicPr>
          <p:nvPr/>
        </p:nvPicPr>
        <p:blipFill>
          <a:blip r:embed="rId4"/>
          <a:stretch>
            <a:fillRect/>
          </a:stretch>
        </p:blipFill>
        <p:spPr>
          <a:xfrm>
            <a:off x="10591188" y="3533925"/>
            <a:ext cx="652132" cy="652133"/>
          </a:xfrm>
          <a:prstGeom prst="rect">
            <a:avLst/>
          </a:prstGeom>
        </p:spPr>
      </p:pic>
      <p:sp>
        <p:nvSpPr>
          <p:cNvPr id="5" name="Text 1"/>
          <p:cNvSpPr/>
          <p:nvPr/>
        </p:nvSpPr>
        <p:spPr>
          <a:xfrm>
            <a:off x="10010178" y="5364380"/>
            <a:ext cx="1904228" cy="1467299"/>
          </a:xfrm>
          <a:prstGeom prst="rect">
            <a:avLst/>
          </a:prstGeom>
          <a:noFill/>
          <a:ln/>
        </p:spPr>
        <p:txBody>
          <a:bodyPr wrap="square" lIns="0" tIns="0" rIns="0" bIns="0" rtlCol="0" anchor="t"/>
          <a:lstStyle/>
          <a:p>
            <a:pPr marL="0" indent="0" algn="ctr">
              <a:lnSpc>
                <a:spcPts val="1650"/>
              </a:lnSpc>
              <a:buNone/>
            </a:pPr>
            <a:r>
              <a:rPr lang="en-US" dirty="0">
                <a:solidFill>
                  <a:srgbClr val="C9C2C0"/>
                </a:solidFill>
                <a:latin typeface="Gelasio" pitchFamily="34" charset="0"/>
                <a:ea typeface="Gelasio" pitchFamily="34" charset="-122"/>
                <a:cs typeface="Gelasio" pitchFamily="34" charset="-120"/>
              </a:rPr>
              <a:t>Quality Control, Deduplication &amp; Sampling</a:t>
            </a:r>
            <a:endParaRPr lang="en-US" dirty="0"/>
          </a:p>
        </p:txBody>
      </p:sp>
      <p:pic>
        <p:nvPicPr>
          <p:cNvPr id="6" name="Image 2" descr="preencoded.png"/>
          <p:cNvPicPr>
            <a:picLocks noChangeAspect="1"/>
          </p:cNvPicPr>
          <p:nvPr/>
        </p:nvPicPr>
        <p:blipFill>
          <a:blip r:embed="rId5"/>
          <a:stretch>
            <a:fillRect/>
          </a:stretch>
        </p:blipFill>
        <p:spPr>
          <a:xfrm>
            <a:off x="8203771" y="3535147"/>
            <a:ext cx="652132" cy="652133"/>
          </a:xfrm>
          <a:prstGeom prst="rect">
            <a:avLst/>
          </a:prstGeom>
        </p:spPr>
      </p:pic>
      <p:sp>
        <p:nvSpPr>
          <p:cNvPr id="7" name="Text 2"/>
          <p:cNvSpPr/>
          <p:nvPr/>
        </p:nvSpPr>
        <p:spPr>
          <a:xfrm>
            <a:off x="7610329" y="5364380"/>
            <a:ext cx="1904228" cy="1467299"/>
          </a:xfrm>
          <a:prstGeom prst="rect">
            <a:avLst/>
          </a:prstGeom>
          <a:noFill/>
          <a:ln/>
        </p:spPr>
        <p:txBody>
          <a:bodyPr wrap="square" lIns="0" tIns="0" rIns="0" bIns="0" rtlCol="0" anchor="t"/>
          <a:lstStyle/>
          <a:p>
            <a:pPr marL="0" indent="0" algn="ctr">
              <a:lnSpc>
                <a:spcPts val="1650"/>
              </a:lnSpc>
              <a:buNone/>
            </a:pPr>
            <a:r>
              <a:rPr lang="en-US" dirty="0">
                <a:solidFill>
                  <a:srgbClr val="C9C2C0"/>
                </a:solidFill>
                <a:latin typeface="Gelasio" pitchFamily="34" charset="0"/>
                <a:ea typeface="Gelasio" pitchFamily="34" charset="-122"/>
                <a:cs typeface="Gelasio" pitchFamily="34" charset="-120"/>
              </a:rPr>
              <a:t>Labeling (breed tags, bounding boxes)</a:t>
            </a:r>
            <a:endParaRPr lang="en-US" dirty="0"/>
          </a:p>
        </p:txBody>
      </p:sp>
      <p:pic>
        <p:nvPicPr>
          <p:cNvPr id="8" name="Image 3" descr="preencoded.png"/>
          <p:cNvPicPr>
            <a:picLocks noChangeAspect="1"/>
          </p:cNvPicPr>
          <p:nvPr/>
        </p:nvPicPr>
        <p:blipFill>
          <a:blip r:embed="rId6"/>
          <a:stretch>
            <a:fillRect/>
          </a:stretch>
        </p:blipFill>
        <p:spPr>
          <a:xfrm>
            <a:off x="5816964" y="3535147"/>
            <a:ext cx="652133" cy="652133"/>
          </a:xfrm>
          <a:prstGeom prst="rect">
            <a:avLst/>
          </a:prstGeom>
        </p:spPr>
      </p:pic>
      <p:sp>
        <p:nvSpPr>
          <p:cNvPr id="9" name="Text 3"/>
          <p:cNvSpPr/>
          <p:nvPr/>
        </p:nvSpPr>
        <p:spPr>
          <a:xfrm>
            <a:off x="5223523" y="5364380"/>
            <a:ext cx="1904228" cy="1467299"/>
          </a:xfrm>
          <a:prstGeom prst="rect">
            <a:avLst/>
          </a:prstGeom>
          <a:noFill/>
          <a:ln/>
        </p:spPr>
        <p:txBody>
          <a:bodyPr wrap="square" lIns="0" tIns="0" rIns="0" bIns="0" rtlCol="0" anchor="t"/>
          <a:lstStyle/>
          <a:p>
            <a:pPr marL="0" indent="0" algn="ctr">
              <a:lnSpc>
                <a:spcPts val="1650"/>
              </a:lnSpc>
              <a:buNone/>
            </a:pPr>
            <a:r>
              <a:rPr lang="en-US" dirty="0">
                <a:solidFill>
                  <a:srgbClr val="C9C2C0"/>
                </a:solidFill>
                <a:latin typeface="Gelasio" pitchFamily="34" charset="0"/>
                <a:ea typeface="Gelasio" pitchFamily="34" charset="-122"/>
                <a:cs typeface="Gelasio" pitchFamily="34" charset="-120"/>
              </a:rPr>
              <a:t>Merge &amp; Tag metadata (location, age, lightning</a:t>
            </a:r>
            <a:r>
              <a:rPr lang="en-US" sz="1350" dirty="0">
                <a:solidFill>
                  <a:srgbClr val="C9C2C0"/>
                </a:solidFill>
                <a:latin typeface="Gelasio" pitchFamily="34" charset="0"/>
                <a:ea typeface="Gelasio" pitchFamily="34" charset="-122"/>
                <a:cs typeface="Gelasio" pitchFamily="34" charset="-120"/>
              </a:rPr>
              <a:t>)</a:t>
            </a:r>
            <a:endParaRPr lang="en-US" sz="1350" dirty="0"/>
          </a:p>
        </p:txBody>
      </p:sp>
      <p:pic>
        <p:nvPicPr>
          <p:cNvPr id="10" name="Image 4" descr="preencoded.png"/>
          <p:cNvPicPr>
            <a:picLocks noChangeAspect="1"/>
          </p:cNvPicPr>
          <p:nvPr/>
        </p:nvPicPr>
        <p:blipFill>
          <a:blip r:embed="rId7"/>
          <a:stretch>
            <a:fillRect/>
          </a:stretch>
        </p:blipFill>
        <p:spPr>
          <a:xfrm>
            <a:off x="3417115" y="3535147"/>
            <a:ext cx="652133" cy="652133"/>
          </a:xfrm>
          <a:prstGeom prst="rect">
            <a:avLst/>
          </a:prstGeom>
        </p:spPr>
      </p:pic>
      <p:sp>
        <p:nvSpPr>
          <p:cNvPr id="11" name="Text 4"/>
          <p:cNvSpPr/>
          <p:nvPr/>
        </p:nvSpPr>
        <p:spPr>
          <a:xfrm>
            <a:off x="2784546" y="5364380"/>
            <a:ext cx="1904228" cy="1467299"/>
          </a:xfrm>
          <a:prstGeom prst="rect">
            <a:avLst/>
          </a:prstGeom>
          <a:noFill/>
          <a:ln/>
        </p:spPr>
        <p:txBody>
          <a:bodyPr wrap="square" lIns="0" tIns="0" rIns="0" bIns="0" rtlCol="0" anchor="t"/>
          <a:lstStyle/>
          <a:p>
            <a:pPr marL="0" indent="0" algn="ctr">
              <a:lnSpc>
                <a:spcPts val="1650"/>
              </a:lnSpc>
              <a:buNone/>
            </a:pPr>
            <a:r>
              <a:rPr lang="en-US" dirty="0">
                <a:solidFill>
                  <a:srgbClr val="C9C2C0"/>
                </a:solidFill>
                <a:latin typeface="Gelasio" pitchFamily="34" charset="0"/>
                <a:ea typeface="Gelasio" pitchFamily="34" charset="-122"/>
                <a:cs typeface="Gelasio" pitchFamily="34" charset="-120"/>
              </a:rPr>
              <a:t>Raw collected data; in the form of images</a:t>
            </a:r>
            <a:endParaRPr lang="en-US" dirty="0"/>
          </a:p>
        </p:txBody>
      </p:sp>
      <p:sp>
        <p:nvSpPr>
          <p:cNvPr id="12" name="Rectangle 11">
            <a:extLst>
              <a:ext uri="{FF2B5EF4-FFF2-40B4-BE49-F238E27FC236}">
                <a16:creationId xmlns:a16="http://schemas.microsoft.com/office/drawing/2014/main" id="{5F9AE416-447A-8FCB-87E8-BC38B27BF3F4}"/>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6987" y="516136"/>
            <a:ext cx="9611201" cy="586621"/>
          </a:xfrm>
          <a:prstGeom prst="rect">
            <a:avLst/>
          </a:prstGeom>
          <a:noFill/>
          <a:ln/>
        </p:spPr>
        <p:txBody>
          <a:bodyPr wrap="none" lIns="0" tIns="0" rIns="0" bIns="0" rtlCol="0" anchor="t"/>
          <a:lstStyle/>
          <a:p>
            <a:pPr marL="0" indent="0" algn="l">
              <a:lnSpc>
                <a:spcPts val="4600"/>
              </a:lnSpc>
              <a:buNone/>
            </a:pPr>
            <a:r>
              <a:rPr lang="en-US" sz="3650" dirty="0">
                <a:solidFill>
                  <a:srgbClr val="D8B6A4"/>
                </a:solidFill>
                <a:latin typeface="Gelasio" pitchFamily="34" charset="0"/>
                <a:ea typeface="Gelasio" pitchFamily="34" charset="-122"/>
                <a:cs typeface="Gelasio" pitchFamily="34" charset="-120"/>
              </a:rPr>
              <a:t>Methodology: Pre-processing &amp; Augmentation</a:t>
            </a:r>
            <a:endParaRPr lang="en-US" sz="3650" dirty="0"/>
          </a:p>
        </p:txBody>
      </p:sp>
      <p:pic>
        <p:nvPicPr>
          <p:cNvPr id="3" name="Image 0" descr="preencoded.png"/>
          <p:cNvPicPr>
            <a:picLocks noChangeAspect="1"/>
          </p:cNvPicPr>
          <p:nvPr/>
        </p:nvPicPr>
        <p:blipFill>
          <a:blip r:embed="rId3"/>
          <a:stretch>
            <a:fillRect/>
          </a:stretch>
        </p:blipFill>
        <p:spPr>
          <a:xfrm>
            <a:off x="764500" y="1478161"/>
            <a:ext cx="13101280" cy="6440448"/>
          </a:xfrm>
          <a:prstGeom prst="rect">
            <a:avLst/>
          </a:prstGeom>
        </p:spPr>
      </p:pic>
      <p:sp>
        <p:nvSpPr>
          <p:cNvPr id="4" name="Text 1"/>
          <p:cNvSpPr/>
          <p:nvPr/>
        </p:nvSpPr>
        <p:spPr>
          <a:xfrm>
            <a:off x="7175293" y="2117651"/>
            <a:ext cx="2996185" cy="374523"/>
          </a:xfrm>
          <a:prstGeom prst="rect">
            <a:avLst/>
          </a:prstGeom>
          <a:noFill/>
          <a:ln/>
        </p:spPr>
        <p:txBody>
          <a:bodyPr wrap="none" lIns="0" tIns="0" rIns="0" bIns="0" rtlCol="0" anchor="t"/>
          <a:lstStyle/>
          <a:p>
            <a:pPr marL="0" indent="0" algn="l">
              <a:lnSpc>
                <a:spcPts val="1650"/>
              </a:lnSpc>
              <a:buNone/>
            </a:pPr>
            <a:r>
              <a:rPr lang="en-US" sz="2700" dirty="0">
                <a:solidFill>
                  <a:srgbClr val="C9C2C0"/>
                </a:solidFill>
                <a:latin typeface="Gelasio" pitchFamily="34" charset="0"/>
                <a:ea typeface="Gelasio" pitchFamily="34" charset="-122"/>
                <a:cs typeface="Gelasio" pitchFamily="34" charset="-120"/>
              </a:rPr>
              <a:t>Raw Image</a:t>
            </a:r>
            <a:endParaRPr lang="en-US" sz="2700" dirty="0"/>
          </a:p>
        </p:txBody>
      </p:sp>
      <p:sp>
        <p:nvSpPr>
          <p:cNvPr id="5" name="Text 2"/>
          <p:cNvSpPr/>
          <p:nvPr/>
        </p:nvSpPr>
        <p:spPr>
          <a:xfrm>
            <a:off x="7175293" y="2525553"/>
            <a:ext cx="6058952" cy="299618"/>
          </a:xfrm>
          <a:prstGeom prst="rect">
            <a:avLst/>
          </a:prstGeom>
          <a:noFill/>
          <a:ln/>
        </p:spPr>
        <p:txBody>
          <a:bodyPr wrap="none" lIns="0" tIns="0" rIns="0" bIns="0" rtlCol="0" anchor="t"/>
          <a:lstStyle/>
          <a:p>
            <a:pPr marL="0" indent="0" algn="l">
              <a:lnSpc>
                <a:spcPts val="1350"/>
              </a:lnSpc>
              <a:buNone/>
            </a:pPr>
            <a:r>
              <a:rPr lang="en-US" dirty="0">
                <a:solidFill>
                  <a:srgbClr val="C9C2C0"/>
                </a:solidFill>
                <a:latin typeface="Gelasio" pitchFamily="34" charset="0"/>
                <a:ea typeface="Gelasio" pitchFamily="34" charset="-122"/>
                <a:cs typeface="Gelasio" pitchFamily="34" charset="-120"/>
              </a:rPr>
              <a:t>Original Input</a:t>
            </a:r>
            <a:endParaRPr lang="en-US" dirty="0"/>
          </a:p>
        </p:txBody>
      </p:sp>
      <p:pic>
        <p:nvPicPr>
          <p:cNvPr id="6" name="Image 1" descr="preencoded.png"/>
          <p:cNvPicPr>
            <a:picLocks noChangeAspect="1"/>
          </p:cNvPicPr>
          <p:nvPr/>
        </p:nvPicPr>
        <p:blipFill>
          <a:blip r:embed="rId4"/>
          <a:stretch>
            <a:fillRect/>
          </a:stretch>
        </p:blipFill>
        <p:spPr>
          <a:xfrm>
            <a:off x="3759641" y="2221773"/>
            <a:ext cx="426124" cy="426124"/>
          </a:xfrm>
          <a:prstGeom prst="rect">
            <a:avLst/>
          </a:prstGeom>
        </p:spPr>
      </p:pic>
      <p:sp>
        <p:nvSpPr>
          <p:cNvPr id="7" name="Text 3"/>
          <p:cNvSpPr/>
          <p:nvPr/>
        </p:nvSpPr>
        <p:spPr>
          <a:xfrm>
            <a:off x="7175293" y="3598018"/>
            <a:ext cx="2996185" cy="374523"/>
          </a:xfrm>
          <a:prstGeom prst="rect">
            <a:avLst/>
          </a:prstGeom>
          <a:noFill/>
          <a:ln/>
        </p:spPr>
        <p:txBody>
          <a:bodyPr wrap="none" lIns="0" tIns="0" rIns="0" bIns="0" rtlCol="0" anchor="t"/>
          <a:lstStyle/>
          <a:p>
            <a:pPr marL="0" indent="0" algn="l">
              <a:lnSpc>
                <a:spcPts val="1650"/>
              </a:lnSpc>
              <a:buNone/>
            </a:pPr>
            <a:r>
              <a:rPr lang="en-US" sz="2700" dirty="0">
                <a:solidFill>
                  <a:srgbClr val="C9C2C0"/>
                </a:solidFill>
                <a:latin typeface="Gelasio" pitchFamily="34" charset="0"/>
                <a:ea typeface="Gelasio" pitchFamily="34" charset="-122"/>
                <a:cs typeface="Gelasio" pitchFamily="34" charset="-120"/>
              </a:rPr>
              <a:t>Standardize</a:t>
            </a:r>
            <a:endParaRPr lang="en-US" sz="2700" dirty="0"/>
          </a:p>
        </p:txBody>
      </p:sp>
      <p:sp>
        <p:nvSpPr>
          <p:cNvPr id="8" name="Text 4"/>
          <p:cNvSpPr/>
          <p:nvPr/>
        </p:nvSpPr>
        <p:spPr>
          <a:xfrm>
            <a:off x="7175293" y="4030304"/>
            <a:ext cx="6058952" cy="299619"/>
          </a:xfrm>
          <a:prstGeom prst="rect">
            <a:avLst/>
          </a:prstGeom>
          <a:noFill/>
          <a:ln/>
        </p:spPr>
        <p:txBody>
          <a:bodyPr wrap="none" lIns="0" tIns="0" rIns="0" bIns="0" rtlCol="0" anchor="t"/>
          <a:lstStyle/>
          <a:p>
            <a:pPr marL="0" indent="0" algn="l">
              <a:lnSpc>
                <a:spcPts val="1350"/>
              </a:lnSpc>
              <a:buNone/>
            </a:pPr>
            <a:r>
              <a:rPr lang="en-US" dirty="0">
                <a:solidFill>
                  <a:srgbClr val="C9C2C0"/>
                </a:solidFill>
                <a:latin typeface="Gelasio" pitchFamily="34" charset="0"/>
                <a:ea typeface="Gelasio" pitchFamily="34" charset="-122"/>
                <a:cs typeface="Gelasio" pitchFamily="34" charset="-120"/>
              </a:rPr>
              <a:t>Resize, center crop, RGB</a:t>
            </a:r>
            <a:endParaRPr lang="en-US" dirty="0"/>
          </a:p>
        </p:txBody>
      </p:sp>
      <p:pic>
        <p:nvPicPr>
          <p:cNvPr id="9" name="Image 2" descr="preencoded.png"/>
          <p:cNvPicPr>
            <a:picLocks noChangeAspect="1"/>
          </p:cNvPicPr>
          <p:nvPr/>
        </p:nvPicPr>
        <p:blipFill>
          <a:blip r:embed="rId5"/>
          <a:stretch>
            <a:fillRect/>
          </a:stretch>
        </p:blipFill>
        <p:spPr>
          <a:xfrm>
            <a:off x="3759641" y="3526778"/>
            <a:ext cx="426124" cy="426124"/>
          </a:xfrm>
          <a:prstGeom prst="rect">
            <a:avLst/>
          </a:prstGeom>
        </p:spPr>
      </p:pic>
      <p:sp>
        <p:nvSpPr>
          <p:cNvPr id="10" name="Text 5"/>
          <p:cNvSpPr/>
          <p:nvPr/>
        </p:nvSpPr>
        <p:spPr>
          <a:xfrm>
            <a:off x="7175293" y="5102769"/>
            <a:ext cx="2996185" cy="374523"/>
          </a:xfrm>
          <a:prstGeom prst="rect">
            <a:avLst/>
          </a:prstGeom>
          <a:noFill/>
          <a:ln/>
        </p:spPr>
        <p:txBody>
          <a:bodyPr wrap="none" lIns="0" tIns="0" rIns="0" bIns="0" rtlCol="0" anchor="t"/>
          <a:lstStyle/>
          <a:p>
            <a:pPr marL="0" indent="0" algn="l">
              <a:lnSpc>
                <a:spcPts val="1650"/>
              </a:lnSpc>
              <a:buNone/>
            </a:pPr>
            <a:r>
              <a:rPr lang="en-US" sz="2700" dirty="0">
                <a:solidFill>
                  <a:srgbClr val="C9C2C0"/>
                </a:solidFill>
                <a:latin typeface="Gelasio" pitchFamily="34" charset="0"/>
                <a:ea typeface="Gelasio" pitchFamily="34" charset="-122"/>
                <a:cs typeface="Gelasio" pitchFamily="34" charset="-120"/>
              </a:rPr>
              <a:t>Normalize</a:t>
            </a:r>
            <a:endParaRPr lang="en-US" sz="2700" dirty="0"/>
          </a:p>
        </p:txBody>
      </p:sp>
      <p:sp>
        <p:nvSpPr>
          <p:cNvPr id="11" name="Text 6"/>
          <p:cNvSpPr/>
          <p:nvPr/>
        </p:nvSpPr>
        <p:spPr>
          <a:xfrm>
            <a:off x="7175293" y="5535055"/>
            <a:ext cx="6058952" cy="299618"/>
          </a:xfrm>
          <a:prstGeom prst="rect">
            <a:avLst/>
          </a:prstGeom>
          <a:noFill/>
          <a:ln/>
        </p:spPr>
        <p:txBody>
          <a:bodyPr wrap="none" lIns="0" tIns="0" rIns="0" bIns="0" rtlCol="0" anchor="t"/>
          <a:lstStyle/>
          <a:p>
            <a:pPr marL="0" indent="0" algn="l">
              <a:lnSpc>
                <a:spcPts val="1350"/>
              </a:lnSpc>
              <a:buNone/>
            </a:pPr>
            <a:r>
              <a:rPr lang="en-US" dirty="0">
                <a:solidFill>
                  <a:srgbClr val="C9C2C0"/>
                </a:solidFill>
                <a:latin typeface="Gelasio" pitchFamily="34" charset="0"/>
                <a:ea typeface="Gelasio" pitchFamily="34" charset="-122"/>
                <a:cs typeface="Gelasio" pitchFamily="34" charset="-120"/>
              </a:rPr>
              <a:t>Per-channel mean/std</a:t>
            </a:r>
            <a:endParaRPr lang="en-US" dirty="0"/>
          </a:p>
        </p:txBody>
      </p:sp>
      <p:pic>
        <p:nvPicPr>
          <p:cNvPr id="12" name="Image 3" descr="preencoded.png"/>
          <p:cNvPicPr>
            <a:picLocks noChangeAspect="1"/>
          </p:cNvPicPr>
          <p:nvPr/>
        </p:nvPicPr>
        <p:blipFill>
          <a:blip r:embed="rId6"/>
          <a:stretch>
            <a:fillRect/>
          </a:stretch>
        </p:blipFill>
        <p:spPr>
          <a:xfrm>
            <a:off x="3759641" y="4818467"/>
            <a:ext cx="426124" cy="426124"/>
          </a:xfrm>
          <a:prstGeom prst="rect">
            <a:avLst/>
          </a:prstGeom>
        </p:spPr>
      </p:pic>
      <p:sp>
        <p:nvSpPr>
          <p:cNvPr id="13" name="Text 7"/>
          <p:cNvSpPr/>
          <p:nvPr/>
        </p:nvSpPr>
        <p:spPr>
          <a:xfrm>
            <a:off x="7188609" y="6595328"/>
            <a:ext cx="2996185" cy="374523"/>
          </a:xfrm>
          <a:prstGeom prst="rect">
            <a:avLst/>
          </a:prstGeom>
          <a:noFill/>
          <a:ln/>
        </p:spPr>
        <p:txBody>
          <a:bodyPr wrap="none" lIns="0" tIns="0" rIns="0" bIns="0" rtlCol="0" anchor="t"/>
          <a:lstStyle/>
          <a:p>
            <a:pPr marL="0" indent="0" algn="l">
              <a:lnSpc>
                <a:spcPts val="1650"/>
              </a:lnSpc>
              <a:buNone/>
            </a:pPr>
            <a:r>
              <a:rPr lang="en-US" sz="2700" dirty="0">
                <a:solidFill>
                  <a:srgbClr val="C9C2C0"/>
                </a:solidFill>
                <a:latin typeface="Gelasio" pitchFamily="34" charset="0"/>
                <a:ea typeface="Gelasio" pitchFamily="34" charset="-122"/>
                <a:cs typeface="Gelasio" pitchFamily="34" charset="-120"/>
              </a:rPr>
              <a:t>Augment</a:t>
            </a:r>
            <a:endParaRPr lang="en-US" sz="1350" dirty="0"/>
          </a:p>
        </p:txBody>
      </p:sp>
      <p:sp>
        <p:nvSpPr>
          <p:cNvPr id="14" name="Text 8"/>
          <p:cNvSpPr/>
          <p:nvPr/>
        </p:nvSpPr>
        <p:spPr>
          <a:xfrm>
            <a:off x="7188609" y="7039806"/>
            <a:ext cx="6058952" cy="299618"/>
          </a:xfrm>
          <a:prstGeom prst="rect">
            <a:avLst/>
          </a:prstGeom>
          <a:noFill/>
          <a:ln/>
        </p:spPr>
        <p:txBody>
          <a:bodyPr wrap="none" lIns="0" tIns="0" rIns="0" bIns="0" rtlCol="0" anchor="t"/>
          <a:lstStyle/>
          <a:p>
            <a:pPr marL="0" indent="0" algn="l">
              <a:lnSpc>
                <a:spcPts val="1350"/>
              </a:lnSpc>
              <a:buNone/>
            </a:pPr>
            <a:r>
              <a:rPr lang="en-US" dirty="0">
                <a:solidFill>
                  <a:srgbClr val="C9C2C0"/>
                </a:solidFill>
                <a:latin typeface="Gelasio" pitchFamily="34" charset="0"/>
                <a:ea typeface="Gelasio" pitchFamily="34" charset="-122"/>
                <a:cs typeface="Gelasio" pitchFamily="34" charset="-120"/>
              </a:rPr>
              <a:t>Flips, rotation, brightness, blur, random crop, colot jitter</a:t>
            </a:r>
            <a:endParaRPr lang="en-US" dirty="0"/>
          </a:p>
        </p:txBody>
      </p:sp>
      <p:pic>
        <p:nvPicPr>
          <p:cNvPr id="15" name="Image 4" descr="preencoded.png"/>
          <p:cNvPicPr>
            <a:picLocks noChangeAspect="1"/>
          </p:cNvPicPr>
          <p:nvPr/>
        </p:nvPicPr>
        <p:blipFill>
          <a:blip r:embed="rId7"/>
          <a:stretch>
            <a:fillRect/>
          </a:stretch>
        </p:blipFill>
        <p:spPr>
          <a:xfrm>
            <a:off x="3759641" y="6323218"/>
            <a:ext cx="426124" cy="426124"/>
          </a:xfrm>
          <a:prstGeom prst="rect">
            <a:avLst/>
          </a:prstGeom>
        </p:spPr>
      </p:pic>
      <p:sp>
        <p:nvSpPr>
          <p:cNvPr id="16" name="Text 9"/>
          <p:cNvSpPr/>
          <p:nvPr/>
        </p:nvSpPr>
        <p:spPr>
          <a:xfrm>
            <a:off x="656987" y="8129707"/>
            <a:ext cx="13316426" cy="300395"/>
          </a:xfrm>
          <a:prstGeom prst="rect">
            <a:avLst/>
          </a:prstGeom>
          <a:noFill/>
          <a:ln/>
        </p:spPr>
        <p:txBody>
          <a:bodyPr wrap="none" lIns="0" tIns="0" rIns="0" bIns="0" rtlCol="0" anchor="t"/>
          <a:lstStyle/>
          <a:p>
            <a:pPr marL="0" indent="0" algn="l">
              <a:lnSpc>
                <a:spcPts val="2350"/>
              </a:lnSpc>
              <a:buNone/>
            </a:pPr>
            <a:endParaRPr lang="en-US" sz="1450" dirty="0"/>
          </a:p>
        </p:txBody>
      </p:sp>
      <p:sp>
        <p:nvSpPr>
          <p:cNvPr id="17" name="Rectangle 16">
            <a:extLst>
              <a:ext uri="{FF2B5EF4-FFF2-40B4-BE49-F238E27FC236}">
                <a16:creationId xmlns:a16="http://schemas.microsoft.com/office/drawing/2014/main" id="{0A31C397-B39E-8590-56D3-74166F569DFE}"/>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18292" y="485775"/>
            <a:ext cx="8149828" cy="551974"/>
          </a:xfrm>
          <a:prstGeom prst="rect">
            <a:avLst/>
          </a:prstGeom>
          <a:noFill/>
          <a:ln/>
        </p:spPr>
        <p:txBody>
          <a:bodyPr wrap="none" lIns="0" tIns="0" rIns="0" bIns="0" rtlCol="0" anchor="t"/>
          <a:lstStyle/>
          <a:p>
            <a:pPr marL="0" indent="0" algn="l">
              <a:lnSpc>
                <a:spcPts val="4300"/>
              </a:lnSpc>
              <a:buNone/>
            </a:pPr>
            <a:r>
              <a:rPr lang="en-US" sz="3450" dirty="0">
                <a:solidFill>
                  <a:srgbClr val="D8B6A4"/>
                </a:solidFill>
                <a:latin typeface="Gelasio" pitchFamily="34" charset="0"/>
                <a:ea typeface="Gelasio" pitchFamily="34" charset="-122"/>
                <a:cs typeface="Gelasio" pitchFamily="34" charset="-120"/>
              </a:rPr>
              <a:t>Methodology: Model Training &amp; Selection</a:t>
            </a:r>
            <a:endParaRPr lang="en-US" sz="3450" dirty="0"/>
          </a:p>
        </p:txBody>
      </p:sp>
      <p:pic>
        <p:nvPicPr>
          <p:cNvPr id="3" name="Image 0" descr="preencoded.png"/>
          <p:cNvPicPr>
            <a:picLocks noChangeAspect="1"/>
          </p:cNvPicPr>
          <p:nvPr/>
        </p:nvPicPr>
        <p:blipFill>
          <a:blip r:embed="rId3"/>
          <a:stretch>
            <a:fillRect/>
          </a:stretch>
        </p:blipFill>
        <p:spPr>
          <a:xfrm>
            <a:off x="725329" y="1013055"/>
            <a:ext cx="13179623" cy="7458194"/>
          </a:xfrm>
          <a:prstGeom prst="rect">
            <a:avLst/>
          </a:prstGeom>
        </p:spPr>
      </p:pic>
      <p:sp>
        <p:nvSpPr>
          <p:cNvPr id="4" name="Text 1"/>
          <p:cNvSpPr/>
          <p:nvPr/>
        </p:nvSpPr>
        <p:spPr>
          <a:xfrm>
            <a:off x="8958003" y="1948692"/>
            <a:ext cx="3013565" cy="376696"/>
          </a:xfrm>
          <a:prstGeom prst="rect">
            <a:avLst/>
          </a:prstGeom>
          <a:noFill/>
          <a:ln/>
        </p:spPr>
        <p:txBody>
          <a:bodyPr wrap="none" lIns="0" tIns="0" rIns="0" bIns="0" rtlCol="0" anchor="t"/>
          <a:lstStyle/>
          <a:p>
            <a:pPr marL="0" indent="0" algn="l">
              <a:lnSpc>
                <a:spcPts val="1650"/>
              </a:lnSpc>
              <a:buNone/>
            </a:pPr>
            <a:r>
              <a:rPr lang="en-US" sz="2700" dirty="0">
                <a:solidFill>
                  <a:srgbClr val="C9C2C0"/>
                </a:solidFill>
                <a:latin typeface="Gelasio" pitchFamily="34" charset="0"/>
                <a:ea typeface="Gelasio" pitchFamily="34" charset="-122"/>
                <a:cs typeface="Gelasio" pitchFamily="34" charset="-120"/>
              </a:rPr>
              <a:t>Input</a:t>
            </a:r>
            <a:endParaRPr lang="en-US" sz="2700" dirty="0"/>
          </a:p>
        </p:txBody>
      </p:sp>
      <p:sp>
        <p:nvSpPr>
          <p:cNvPr id="5" name="Text 2"/>
          <p:cNvSpPr/>
          <p:nvPr/>
        </p:nvSpPr>
        <p:spPr>
          <a:xfrm>
            <a:off x="8970195" y="2274040"/>
            <a:ext cx="4620800" cy="301356"/>
          </a:xfrm>
          <a:prstGeom prst="rect">
            <a:avLst/>
          </a:prstGeom>
          <a:noFill/>
          <a:ln/>
        </p:spPr>
        <p:txBody>
          <a:bodyPr wrap="none" lIns="0" tIns="0" rIns="0" bIns="0" rtlCol="0" anchor="t"/>
          <a:lstStyle/>
          <a:p>
            <a:pPr marL="0" indent="0" algn="l">
              <a:lnSpc>
                <a:spcPts val="1350"/>
              </a:lnSpc>
              <a:buNone/>
            </a:pPr>
            <a:r>
              <a:rPr lang="en-US" dirty="0">
                <a:solidFill>
                  <a:srgbClr val="C9C2C0"/>
                </a:solidFill>
                <a:latin typeface="Gelasio" pitchFamily="34" charset="0"/>
                <a:ea typeface="Gelasio" pitchFamily="34" charset="-122"/>
                <a:cs typeface="Gelasio" pitchFamily="34" charset="-120"/>
              </a:rPr>
              <a:t>Preprocessed tensors and features.</a:t>
            </a:r>
            <a:endParaRPr lang="en-US" dirty="0"/>
          </a:p>
        </p:txBody>
      </p:sp>
      <p:pic>
        <p:nvPicPr>
          <p:cNvPr id="6" name="Image 1" descr="preencoded.png"/>
          <p:cNvPicPr>
            <a:picLocks noChangeAspect="1"/>
          </p:cNvPicPr>
          <p:nvPr/>
        </p:nvPicPr>
        <p:blipFill>
          <a:blip r:embed="rId4"/>
          <a:stretch>
            <a:fillRect/>
          </a:stretch>
        </p:blipFill>
        <p:spPr>
          <a:xfrm>
            <a:off x="7796160" y="1947855"/>
            <a:ext cx="401808" cy="401809"/>
          </a:xfrm>
          <a:prstGeom prst="rect">
            <a:avLst/>
          </a:prstGeom>
        </p:spPr>
      </p:pic>
      <p:pic>
        <p:nvPicPr>
          <p:cNvPr id="7" name="Image 2" descr="preencoded.png"/>
          <p:cNvPicPr>
            <a:picLocks noChangeAspect="1"/>
          </p:cNvPicPr>
          <p:nvPr/>
        </p:nvPicPr>
        <p:blipFill>
          <a:blip r:embed="rId5"/>
          <a:stretch>
            <a:fillRect/>
          </a:stretch>
        </p:blipFill>
        <p:spPr>
          <a:xfrm>
            <a:off x="6470191" y="3421153"/>
            <a:ext cx="401809" cy="401809"/>
          </a:xfrm>
          <a:prstGeom prst="rect">
            <a:avLst/>
          </a:prstGeom>
        </p:spPr>
      </p:pic>
      <p:sp>
        <p:nvSpPr>
          <p:cNvPr id="8" name="Text 3"/>
          <p:cNvSpPr/>
          <p:nvPr/>
        </p:nvSpPr>
        <p:spPr>
          <a:xfrm>
            <a:off x="2646312" y="3420107"/>
            <a:ext cx="3013565" cy="376696"/>
          </a:xfrm>
          <a:prstGeom prst="rect">
            <a:avLst/>
          </a:prstGeom>
          <a:noFill/>
          <a:ln/>
        </p:spPr>
        <p:txBody>
          <a:bodyPr wrap="none" lIns="0" tIns="0" rIns="0" bIns="0" rtlCol="0" anchor="t"/>
          <a:lstStyle/>
          <a:p>
            <a:pPr marL="0" indent="0" algn="r">
              <a:lnSpc>
                <a:spcPts val="1650"/>
              </a:lnSpc>
              <a:buNone/>
            </a:pPr>
            <a:r>
              <a:rPr lang="en-US" sz="2700" dirty="0">
                <a:solidFill>
                  <a:srgbClr val="C9C2C0"/>
                </a:solidFill>
                <a:latin typeface="Gelasio" pitchFamily="34" charset="0"/>
                <a:ea typeface="Gelasio" pitchFamily="34" charset="-122"/>
                <a:cs typeface="Gelasio" pitchFamily="34" charset="-120"/>
              </a:rPr>
              <a:t>Choose Family</a:t>
            </a:r>
            <a:endParaRPr lang="en-US" sz="2700" dirty="0"/>
          </a:p>
        </p:txBody>
      </p:sp>
      <p:sp>
        <p:nvSpPr>
          <p:cNvPr id="9" name="Text 4"/>
          <p:cNvSpPr/>
          <p:nvPr/>
        </p:nvSpPr>
        <p:spPr>
          <a:xfrm>
            <a:off x="1039078" y="3794223"/>
            <a:ext cx="4620800" cy="301356"/>
          </a:xfrm>
          <a:prstGeom prst="rect">
            <a:avLst/>
          </a:prstGeom>
          <a:noFill/>
          <a:ln/>
        </p:spPr>
        <p:txBody>
          <a:bodyPr wrap="none" lIns="0" tIns="0" rIns="0" bIns="0" rtlCol="0" anchor="t"/>
          <a:lstStyle/>
          <a:p>
            <a:pPr marL="0" indent="0" algn="r">
              <a:lnSpc>
                <a:spcPts val="1350"/>
              </a:lnSpc>
              <a:buNone/>
            </a:pPr>
            <a:r>
              <a:rPr lang="en-US" dirty="0">
                <a:solidFill>
                  <a:srgbClr val="C9C2C0"/>
                </a:solidFill>
                <a:latin typeface="Gelasio" pitchFamily="34" charset="0"/>
                <a:ea typeface="Gelasio" pitchFamily="34" charset="-122"/>
                <a:cs typeface="Gelasio" pitchFamily="34" charset="-120"/>
              </a:rPr>
              <a:t>Deep learning or classical ML paths</a:t>
            </a:r>
            <a:r>
              <a:rPr lang="en-US" sz="1050" dirty="0">
                <a:solidFill>
                  <a:srgbClr val="C9C2C0"/>
                </a:solidFill>
                <a:latin typeface="Gelasio" pitchFamily="34" charset="0"/>
                <a:ea typeface="Gelasio" pitchFamily="34" charset="-122"/>
                <a:cs typeface="Gelasio" pitchFamily="34" charset="-120"/>
              </a:rPr>
              <a:t>.</a:t>
            </a:r>
            <a:endParaRPr lang="en-US" sz="1050" dirty="0"/>
          </a:p>
        </p:txBody>
      </p:sp>
      <p:sp>
        <p:nvSpPr>
          <p:cNvPr id="10" name="Text 5"/>
          <p:cNvSpPr/>
          <p:nvPr/>
        </p:nvSpPr>
        <p:spPr>
          <a:xfrm>
            <a:off x="8933619" y="4895289"/>
            <a:ext cx="3013565" cy="376695"/>
          </a:xfrm>
          <a:prstGeom prst="rect">
            <a:avLst/>
          </a:prstGeom>
          <a:noFill/>
          <a:ln/>
        </p:spPr>
        <p:txBody>
          <a:bodyPr wrap="none" lIns="0" tIns="0" rIns="0" bIns="0" rtlCol="0" anchor="t"/>
          <a:lstStyle/>
          <a:p>
            <a:pPr marL="0" indent="0" algn="l">
              <a:lnSpc>
                <a:spcPts val="1650"/>
              </a:lnSpc>
              <a:buNone/>
            </a:pPr>
            <a:r>
              <a:rPr lang="en-US" sz="2700" dirty="0">
                <a:solidFill>
                  <a:srgbClr val="C9C2C0"/>
                </a:solidFill>
                <a:latin typeface="Gelasio" pitchFamily="34" charset="0"/>
                <a:ea typeface="Gelasio" pitchFamily="34" charset="-122"/>
                <a:cs typeface="Gelasio" pitchFamily="34" charset="-120"/>
              </a:rPr>
              <a:t>Training Loop</a:t>
            </a:r>
            <a:endParaRPr lang="en-US" sz="2700" dirty="0"/>
          </a:p>
        </p:txBody>
      </p:sp>
      <p:sp>
        <p:nvSpPr>
          <p:cNvPr id="11" name="Text 6"/>
          <p:cNvSpPr/>
          <p:nvPr/>
        </p:nvSpPr>
        <p:spPr>
          <a:xfrm>
            <a:off x="8970195" y="5257213"/>
            <a:ext cx="4620800" cy="301356"/>
          </a:xfrm>
          <a:prstGeom prst="rect">
            <a:avLst/>
          </a:prstGeom>
          <a:noFill/>
          <a:ln/>
        </p:spPr>
        <p:txBody>
          <a:bodyPr wrap="none" lIns="0" tIns="0" rIns="0" bIns="0" rtlCol="0" anchor="t"/>
          <a:lstStyle/>
          <a:p>
            <a:pPr marL="0" indent="0" algn="l">
              <a:lnSpc>
                <a:spcPts val="1350"/>
              </a:lnSpc>
              <a:buNone/>
            </a:pPr>
            <a:r>
              <a:rPr lang="en-US" dirty="0">
                <a:solidFill>
                  <a:srgbClr val="C9C2C0"/>
                </a:solidFill>
                <a:latin typeface="Gelasio" pitchFamily="34" charset="0"/>
                <a:ea typeface="Gelasio" pitchFamily="34" charset="-122"/>
                <a:cs typeface="Gelasio" pitchFamily="34" charset="-120"/>
              </a:rPr>
              <a:t>Stratified splits, optimizer, LR schedule.</a:t>
            </a:r>
            <a:endParaRPr lang="en-US" dirty="0"/>
          </a:p>
        </p:txBody>
      </p:sp>
      <p:pic>
        <p:nvPicPr>
          <p:cNvPr id="12" name="Image 3" descr="preencoded.png"/>
          <p:cNvPicPr>
            <a:picLocks noChangeAspect="1"/>
          </p:cNvPicPr>
          <p:nvPr/>
        </p:nvPicPr>
        <p:blipFill>
          <a:blip r:embed="rId6"/>
          <a:stretch>
            <a:fillRect/>
          </a:stretch>
        </p:blipFill>
        <p:spPr>
          <a:xfrm>
            <a:off x="7796160" y="4894452"/>
            <a:ext cx="401808" cy="401808"/>
          </a:xfrm>
          <a:prstGeom prst="rect">
            <a:avLst/>
          </a:prstGeom>
        </p:spPr>
      </p:pic>
      <p:sp>
        <p:nvSpPr>
          <p:cNvPr id="13" name="Text 7"/>
          <p:cNvSpPr/>
          <p:nvPr/>
        </p:nvSpPr>
        <p:spPr>
          <a:xfrm>
            <a:off x="2648405" y="6368587"/>
            <a:ext cx="3013565" cy="376696"/>
          </a:xfrm>
          <a:prstGeom prst="rect">
            <a:avLst/>
          </a:prstGeom>
          <a:noFill/>
          <a:ln/>
        </p:spPr>
        <p:txBody>
          <a:bodyPr wrap="none" lIns="0" tIns="0" rIns="0" bIns="0" rtlCol="0" anchor="t"/>
          <a:lstStyle/>
          <a:p>
            <a:pPr marL="0" indent="0" algn="r">
              <a:lnSpc>
                <a:spcPts val="1650"/>
              </a:lnSpc>
              <a:buNone/>
            </a:pPr>
            <a:r>
              <a:rPr lang="en-US" sz="2700" dirty="0">
                <a:solidFill>
                  <a:srgbClr val="C9C2C0"/>
                </a:solidFill>
                <a:latin typeface="Gelasio" pitchFamily="34" charset="0"/>
                <a:ea typeface="Gelasio" pitchFamily="34" charset="-122"/>
                <a:cs typeface="Gelasio" pitchFamily="34" charset="-120"/>
              </a:rPr>
              <a:t>Model Selection</a:t>
            </a:r>
            <a:endParaRPr lang="en-US" sz="2700" dirty="0"/>
          </a:p>
        </p:txBody>
      </p:sp>
      <p:sp>
        <p:nvSpPr>
          <p:cNvPr id="14" name="Text 8"/>
          <p:cNvSpPr/>
          <p:nvPr/>
        </p:nvSpPr>
        <p:spPr>
          <a:xfrm>
            <a:off x="1039077" y="6769559"/>
            <a:ext cx="4620800" cy="602713"/>
          </a:xfrm>
          <a:prstGeom prst="rect">
            <a:avLst/>
          </a:prstGeom>
          <a:noFill/>
          <a:ln/>
        </p:spPr>
        <p:txBody>
          <a:bodyPr wrap="square" lIns="0" tIns="0" rIns="0" bIns="0" rtlCol="0" anchor="t"/>
          <a:lstStyle/>
          <a:p>
            <a:pPr marL="0" indent="0" algn="r">
              <a:lnSpc>
                <a:spcPts val="1350"/>
              </a:lnSpc>
              <a:buNone/>
            </a:pPr>
            <a:r>
              <a:rPr lang="en-US" dirty="0">
                <a:solidFill>
                  <a:srgbClr val="C9C2C0"/>
                </a:solidFill>
                <a:latin typeface="Gelasio" pitchFamily="34" charset="0"/>
                <a:ea typeface="Gelasio" pitchFamily="34" charset="-122"/>
                <a:cs typeface="Gelasio" pitchFamily="34" charset="-120"/>
              </a:rPr>
              <a:t>Hyperparameter search, checkpointing, best</a:t>
            </a:r>
          </a:p>
          <a:p>
            <a:pPr marL="0" indent="0" algn="r">
              <a:lnSpc>
                <a:spcPts val="1350"/>
              </a:lnSpc>
              <a:buNone/>
            </a:pPr>
            <a:endParaRPr lang="en-US" dirty="0">
              <a:solidFill>
                <a:srgbClr val="C9C2C0"/>
              </a:solidFill>
              <a:latin typeface="Gelasio" pitchFamily="34" charset="0"/>
              <a:ea typeface="Gelasio" pitchFamily="34" charset="-122"/>
              <a:cs typeface="Gelasio" pitchFamily="34" charset="-120"/>
            </a:endParaRPr>
          </a:p>
          <a:p>
            <a:pPr marL="0" indent="0" algn="r">
              <a:lnSpc>
                <a:spcPts val="1350"/>
              </a:lnSpc>
              <a:buNone/>
            </a:pPr>
            <a:r>
              <a:rPr lang="en-US" dirty="0">
                <a:solidFill>
                  <a:srgbClr val="C9C2C0"/>
                </a:solidFill>
                <a:latin typeface="Gelasio" pitchFamily="34" charset="0"/>
                <a:ea typeface="Gelasio" pitchFamily="34" charset="-122"/>
                <a:cs typeface="Gelasio" pitchFamily="34" charset="-120"/>
              </a:rPr>
              <a:t>validation metric</a:t>
            </a:r>
            <a:r>
              <a:rPr lang="en-US" sz="1050" dirty="0">
                <a:solidFill>
                  <a:srgbClr val="C9C2C0"/>
                </a:solidFill>
                <a:latin typeface="Gelasio" pitchFamily="34" charset="0"/>
                <a:ea typeface="Gelasio" pitchFamily="34" charset="-122"/>
                <a:cs typeface="Gelasio" pitchFamily="34" charset="-120"/>
              </a:rPr>
              <a:t>.</a:t>
            </a:r>
            <a:endParaRPr lang="en-US" sz="1050" dirty="0"/>
          </a:p>
        </p:txBody>
      </p:sp>
      <p:pic>
        <p:nvPicPr>
          <p:cNvPr id="15" name="Image 4" descr="preencoded.png"/>
          <p:cNvPicPr>
            <a:picLocks noChangeAspect="1"/>
          </p:cNvPicPr>
          <p:nvPr/>
        </p:nvPicPr>
        <p:blipFill>
          <a:blip r:embed="rId7"/>
          <a:stretch>
            <a:fillRect/>
          </a:stretch>
        </p:blipFill>
        <p:spPr>
          <a:xfrm>
            <a:off x="6470191" y="6367750"/>
            <a:ext cx="401809" cy="401809"/>
          </a:xfrm>
          <a:prstGeom prst="rect">
            <a:avLst/>
          </a:prstGeom>
        </p:spPr>
      </p:pic>
      <p:sp>
        <p:nvSpPr>
          <p:cNvPr id="16" name="Rectangle 15">
            <a:extLst>
              <a:ext uri="{FF2B5EF4-FFF2-40B4-BE49-F238E27FC236}">
                <a16:creationId xmlns:a16="http://schemas.microsoft.com/office/drawing/2014/main" id="{810A1304-F195-DC7F-C923-BA6798732F57}"/>
              </a:ext>
            </a:extLst>
          </p:cNvPr>
          <p:cNvSpPr/>
          <p:nvPr/>
        </p:nvSpPr>
        <p:spPr>
          <a:xfrm>
            <a:off x="12704064" y="7571232"/>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29866"/>
            <a:ext cx="11023997" cy="708779"/>
          </a:xfrm>
          <a:prstGeom prst="rect">
            <a:avLst/>
          </a:prstGeom>
          <a:noFill/>
          <a:ln/>
        </p:spPr>
        <p:txBody>
          <a:bodyPr wrap="non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Methodology: Evaluation &amp; Failure Analysis</a:t>
            </a:r>
            <a:endParaRPr lang="en-US" sz="4450" dirty="0"/>
          </a:p>
        </p:txBody>
      </p:sp>
      <p:pic>
        <p:nvPicPr>
          <p:cNvPr id="3" name="Image 0" descr="preencoded.png"/>
          <p:cNvPicPr>
            <a:picLocks noChangeAspect="1"/>
          </p:cNvPicPr>
          <p:nvPr/>
        </p:nvPicPr>
        <p:blipFill>
          <a:blip r:embed="rId3"/>
          <a:stretch>
            <a:fillRect/>
          </a:stretch>
        </p:blipFill>
        <p:spPr>
          <a:xfrm>
            <a:off x="793790" y="1992273"/>
            <a:ext cx="13042821" cy="5407462"/>
          </a:xfrm>
          <a:prstGeom prst="rect">
            <a:avLst/>
          </a:prstGeom>
        </p:spPr>
      </p:pic>
      <p:pic>
        <p:nvPicPr>
          <p:cNvPr id="4" name="Image 1" descr="preencoded.png"/>
          <p:cNvPicPr>
            <a:picLocks noChangeAspect="1"/>
          </p:cNvPicPr>
          <p:nvPr/>
        </p:nvPicPr>
        <p:blipFill>
          <a:blip r:embed="rId4"/>
          <a:stretch>
            <a:fillRect/>
          </a:stretch>
        </p:blipFill>
        <p:spPr>
          <a:xfrm>
            <a:off x="5691173" y="5625278"/>
            <a:ext cx="649123" cy="649123"/>
          </a:xfrm>
          <a:prstGeom prst="rect">
            <a:avLst/>
          </a:prstGeom>
        </p:spPr>
      </p:pic>
      <p:sp>
        <p:nvSpPr>
          <p:cNvPr id="5" name="Text 1"/>
          <p:cNvSpPr/>
          <p:nvPr/>
        </p:nvSpPr>
        <p:spPr>
          <a:xfrm>
            <a:off x="1291336" y="5423239"/>
            <a:ext cx="2921054" cy="365131"/>
          </a:xfrm>
          <a:prstGeom prst="rect">
            <a:avLst/>
          </a:prstGeom>
          <a:noFill/>
          <a:ln/>
        </p:spPr>
        <p:txBody>
          <a:bodyPr wrap="none" lIns="0" tIns="0" rIns="0" bIns="0" rtlCol="0" anchor="t"/>
          <a:lstStyle/>
          <a:p>
            <a:pPr marL="0" indent="0" algn="ctr">
              <a:lnSpc>
                <a:spcPts val="1650"/>
              </a:lnSpc>
              <a:buNone/>
            </a:pPr>
            <a:r>
              <a:rPr lang="en-US" sz="2500" b="1" dirty="0">
                <a:solidFill>
                  <a:srgbClr val="C9C2C0"/>
                </a:solidFill>
                <a:latin typeface="Gelasio" pitchFamily="34" charset="0"/>
                <a:ea typeface="Gelasio" pitchFamily="34" charset="-122"/>
                <a:cs typeface="Gelasio" pitchFamily="34" charset="-120"/>
              </a:rPr>
              <a:t>Report &amp; Decisions</a:t>
            </a:r>
            <a:endParaRPr lang="en-US" sz="2500" b="1" dirty="0"/>
          </a:p>
        </p:txBody>
      </p:sp>
      <p:sp>
        <p:nvSpPr>
          <p:cNvPr id="6" name="Text 2"/>
          <p:cNvSpPr/>
          <p:nvPr/>
        </p:nvSpPr>
        <p:spPr>
          <a:xfrm>
            <a:off x="1103090" y="5892230"/>
            <a:ext cx="3297545" cy="584211"/>
          </a:xfrm>
          <a:prstGeom prst="rect">
            <a:avLst/>
          </a:prstGeom>
          <a:noFill/>
          <a:ln/>
        </p:spPr>
        <p:txBody>
          <a:bodyPr wrap="square" lIns="0" tIns="0" rIns="0" bIns="0" rtlCol="0" anchor="t"/>
          <a:lstStyle/>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Includes relabeling, more</a:t>
            </a:r>
          </a:p>
          <a:p>
            <a:pPr marL="0" indent="0" algn="ctr">
              <a:lnSpc>
                <a:spcPts val="1350"/>
              </a:lnSpc>
              <a:buNone/>
            </a:pPr>
            <a:endParaRPr lang="en-US" sz="2000" dirty="0">
              <a:solidFill>
                <a:srgbClr val="C9C2C0"/>
              </a:solidFill>
              <a:latin typeface="Gelasio" pitchFamily="34" charset="0"/>
              <a:ea typeface="Gelasio" pitchFamily="34" charset="-122"/>
              <a:cs typeface="Gelasio" pitchFamily="34" charset="-120"/>
            </a:endParaRPr>
          </a:p>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data, and potential model </a:t>
            </a:r>
          </a:p>
          <a:p>
            <a:pPr marL="0" indent="0" algn="ctr">
              <a:lnSpc>
                <a:spcPts val="1350"/>
              </a:lnSpc>
              <a:buNone/>
            </a:pPr>
            <a:endParaRPr lang="en-US" sz="2000" dirty="0">
              <a:solidFill>
                <a:srgbClr val="C9C2C0"/>
              </a:solidFill>
              <a:latin typeface="Gelasio" pitchFamily="34" charset="0"/>
              <a:ea typeface="Gelasio" pitchFamily="34" charset="-122"/>
              <a:cs typeface="Gelasio" pitchFamily="34" charset="-120"/>
            </a:endParaRPr>
          </a:p>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changes.</a:t>
            </a:r>
            <a:endParaRPr lang="en-US" sz="2000" dirty="0"/>
          </a:p>
        </p:txBody>
      </p:sp>
      <p:sp>
        <p:nvSpPr>
          <p:cNvPr id="7" name="Text 3"/>
          <p:cNvSpPr/>
          <p:nvPr/>
        </p:nvSpPr>
        <p:spPr>
          <a:xfrm>
            <a:off x="10508429" y="5131133"/>
            <a:ext cx="2921053" cy="365132"/>
          </a:xfrm>
          <a:prstGeom prst="rect">
            <a:avLst/>
          </a:prstGeom>
          <a:noFill/>
          <a:ln/>
        </p:spPr>
        <p:txBody>
          <a:bodyPr wrap="none" lIns="0" tIns="0" rIns="0" bIns="0" rtlCol="0" anchor="t"/>
          <a:lstStyle/>
          <a:p>
            <a:pPr marL="0" indent="0" algn="ctr">
              <a:lnSpc>
                <a:spcPts val="1650"/>
              </a:lnSpc>
              <a:buNone/>
            </a:pPr>
            <a:r>
              <a:rPr lang="en-US" sz="2500" b="1" dirty="0">
                <a:solidFill>
                  <a:srgbClr val="C9C2C0"/>
                </a:solidFill>
                <a:latin typeface="Gelasio" pitchFamily="34" charset="0"/>
                <a:ea typeface="Gelasio" pitchFamily="34" charset="-122"/>
                <a:cs typeface="Gelasio" pitchFamily="34" charset="-120"/>
              </a:rPr>
              <a:t>Visual Diagnostics</a:t>
            </a:r>
            <a:endParaRPr lang="en-US" sz="2500" b="1" dirty="0"/>
          </a:p>
        </p:txBody>
      </p:sp>
      <p:sp>
        <p:nvSpPr>
          <p:cNvPr id="8" name="Text 4"/>
          <p:cNvSpPr/>
          <p:nvPr/>
        </p:nvSpPr>
        <p:spPr>
          <a:xfrm>
            <a:off x="10332375" y="5600125"/>
            <a:ext cx="3297546" cy="1168421"/>
          </a:xfrm>
          <a:prstGeom prst="rect">
            <a:avLst/>
          </a:prstGeom>
          <a:noFill/>
          <a:ln/>
        </p:spPr>
        <p:txBody>
          <a:bodyPr wrap="square" lIns="0" tIns="0" rIns="0" bIns="0" rtlCol="0" anchor="t"/>
          <a:lstStyle/>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Grad-CAM, Feature </a:t>
            </a:r>
          </a:p>
          <a:p>
            <a:pPr marL="0" indent="0" algn="ctr">
              <a:lnSpc>
                <a:spcPts val="1350"/>
              </a:lnSpc>
              <a:buNone/>
            </a:pPr>
            <a:endParaRPr lang="en-US" sz="2000" dirty="0">
              <a:solidFill>
                <a:srgbClr val="C9C2C0"/>
              </a:solidFill>
              <a:latin typeface="Gelasio" pitchFamily="34" charset="0"/>
              <a:ea typeface="Gelasio" pitchFamily="34" charset="-122"/>
              <a:cs typeface="Gelasio" pitchFamily="34" charset="-120"/>
            </a:endParaRPr>
          </a:p>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Importance </a:t>
            </a:r>
          </a:p>
          <a:p>
            <a:pPr marL="0" indent="0" algn="ctr">
              <a:lnSpc>
                <a:spcPts val="1350"/>
              </a:lnSpc>
              <a:buNone/>
            </a:pPr>
            <a:endParaRPr lang="en-US" sz="2000" dirty="0">
              <a:solidFill>
                <a:srgbClr val="C9C2C0"/>
              </a:solidFill>
              <a:latin typeface="Gelasio" pitchFamily="34" charset="0"/>
              <a:ea typeface="Gelasio" pitchFamily="34" charset="-122"/>
              <a:cs typeface="Gelasio" pitchFamily="34" charset="-120"/>
            </a:endParaRPr>
          </a:p>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(RandomForest), Error </a:t>
            </a:r>
          </a:p>
          <a:p>
            <a:pPr marL="0" indent="0" algn="ctr">
              <a:lnSpc>
                <a:spcPts val="1350"/>
              </a:lnSpc>
              <a:buNone/>
            </a:pPr>
            <a:endParaRPr lang="en-US" sz="2000" dirty="0">
              <a:solidFill>
                <a:srgbClr val="C9C2C0"/>
              </a:solidFill>
              <a:latin typeface="Gelasio" pitchFamily="34" charset="0"/>
              <a:ea typeface="Gelasio" pitchFamily="34" charset="-122"/>
              <a:cs typeface="Gelasio" pitchFamily="34" charset="-120"/>
            </a:endParaRPr>
          </a:p>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Clusters (pose, lighting, age).</a:t>
            </a:r>
            <a:endParaRPr lang="en-US" sz="2000" dirty="0"/>
          </a:p>
        </p:txBody>
      </p:sp>
      <p:pic>
        <p:nvPicPr>
          <p:cNvPr id="9" name="Image 2" descr="preencoded.png"/>
          <p:cNvPicPr>
            <a:picLocks noChangeAspect="1"/>
          </p:cNvPicPr>
          <p:nvPr/>
        </p:nvPicPr>
        <p:blipFill>
          <a:blip r:embed="rId5"/>
          <a:stretch>
            <a:fillRect/>
          </a:stretch>
        </p:blipFill>
        <p:spPr>
          <a:xfrm>
            <a:off x="8210988" y="5625278"/>
            <a:ext cx="649123" cy="649123"/>
          </a:xfrm>
          <a:prstGeom prst="rect">
            <a:avLst/>
          </a:prstGeom>
        </p:spPr>
      </p:pic>
      <p:sp>
        <p:nvSpPr>
          <p:cNvPr id="10" name="Text 5"/>
          <p:cNvSpPr/>
          <p:nvPr/>
        </p:nvSpPr>
        <p:spPr>
          <a:xfrm>
            <a:off x="10418007" y="2784554"/>
            <a:ext cx="2921053" cy="365132"/>
          </a:xfrm>
          <a:prstGeom prst="rect">
            <a:avLst/>
          </a:prstGeom>
          <a:noFill/>
          <a:ln/>
        </p:spPr>
        <p:txBody>
          <a:bodyPr wrap="none" lIns="0" tIns="0" rIns="0" bIns="0" rtlCol="0" anchor="t"/>
          <a:lstStyle/>
          <a:p>
            <a:pPr marL="0" indent="0" algn="ctr">
              <a:lnSpc>
                <a:spcPts val="1650"/>
              </a:lnSpc>
              <a:buNone/>
            </a:pPr>
            <a:r>
              <a:rPr lang="en-US" sz="2500" b="1" dirty="0">
                <a:solidFill>
                  <a:srgbClr val="C9C2C0"/>
                </a:solidFill>
                <a:latin typeface="Gelasio" pitchFamily="34" charset="0"/>
                <a:ea typeface="Gelasio" pitchFamily="34" charset="-122"/>
                <a:cs typeface="Gelasio" pitchFamily="34" charset="-120"/>
              </a:rPr>
              <a:t>Compute Metrics</a:t>
            </a:r>
            <a:endParaRPr lang="en-US" sz="2500" b="1" dirty="0"/>
          </a:p>
        </p:txBody>
      </p:sp>
      <p:sp>
        <p:nvSpPr>
          <p:cNvPr id="11" name="Text 6"/>
          <p:cNvSpPr/>
          <p:nvPr/>
        </p:nvSpPr>
        <p:spPr>
          <a:xfrm>
            <a:off x="10229761" y="3253545"/>
            <a:ext cx="3297546" cy="876316"/>
          </a:xfrm>
          <a:prstGeom prst="rect">
            <a:avLst/>
          </a:prstGeom>
          <a:noFill/>
          <a:ln/>
        </p:spPr>
        <p:txBody>
          <a:bodyPr wrap="square" lIns="0" tIns="0" rIns="0" bIns="0" rtlCol="0" anchor="t"/>
          <a:lstStyle/>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Accuracy, F1 score, </a:t>
            </a:r>
          </a:p>
          <a:p>
            <a:pPr marL="0" indent="0" algn="ctr">
              <a:lnSpc>
                <a:spcPts val="1350"/>
              </a:lnSpc>
              <a:buNone/>
            </a:pPr>
            <a:endParaRPr lang="en-US" sz="2000" dirty="0">
              <a:solidFill>
                <a:srgbClr val="C9C2C0"/>
              </a:solidFill>
              <a:latin typeface="Gelasio" pitchFamily="34" charset="0"/>
              <a:ea typeface="Gelasio" pitchFamily="34" charset="-122"/>
              <a:cs typeface="Gelasio" pitchFamily="34" charset="-120"/>
            </a:endParaRPr>
          </a:p>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Precision, Recall, ROC, </a:t>
            </a:r>
          </a:p>
          <a:p>
            <a:pPr marL="0" indent="0" algn="ctr">
              <a:lnSpc>
                <a:spcPts val="1350"/>
              </a:lnSpc>
              <a:buNone/>
            </a:pPr>
            <a:endParaRPr lang="en-US" sz="2000" dirty="0">
              <a:solidFill>
                <a:srgbClr val="C9C2C0"/>
              </a:solidFill>
              <a:latin typeface="Gelasio" pitchFamily="34" charset="0"/>
              <a:ea typeface="Gelasio" pitchFamily="34" charset="-122"/>
              <a:cs typeface="Gelasio" pitchFamily="34" charset="-120"/>
            </a:endParaRPr>
          </a:p>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Confusion matrices</a:t>
            </a:r>
            <a:endParaRPr lang="en-US" sz="2000" dirty="0"/>
          </a:p>
        </p:txBody>
      </p:sp>
      <p:pic>
        <p:nvPicPr>
          <p:cNvPr id="12" name="Image 3" descr="preencoded.png"/>
          <p:cNvPicPr>
            <a:picLocks noChangeAspect="1"/>
          </p:cNvPicPr>
          <p:nvPr/>
        </p:nvPicPr>
        <p:blipFill>
          <a:blip r:embed="rId6"/>
          <a:stretch>
            <a:fillRect/>
          </a:stretch>
        </p:blipFill>
        <p:spPr>
          <a:xfrm>
            <a:off x="8223971" y="3119663"/>
            <a:ext cx="649123" cy="649123"/>
          </a:xfrm>
          <a:prstGeom prst="rect">
            <a:avLst/>
          </a:prstGeom>
        </p:spPr>
      </p:pic>
      <p:sp>
        <p:nvSpPr>
          <p:cNvPr id="13" name="Text 7"/>
          <p:cNvSpPr/>
          <p:nvPr/>
        </p:nvSpPr>
        <p:spPr>
          <a:xfrm>
            <a:off x="1291336" y="2943589"/>
            <a:ext cx="2921054" cy="365132"/>
          </a:xfrm>
          <a:prstGeom prst="rect">
            <a:avLst/>
          </a:prstGeom>
          <a:noFill/>
          <a:ln/>
        </p:spPr>
        <p:txBody>
          <a:bodyPr wrap="none" lIns="0" tIns="0" rIns="0" bIns="0" rtlCol="0" anchor="t"/>
          <a:lstStyle/>
          <a:p>
            <a:pPr marL="0" indent="0" algn="ctr">
              <a:lnSpc>
                <a:spcPts val="1650"/>
              </a:lnSpc>
              <a:buNone/>
            </a:pPr>
            <a:r>
              <a:rPr lang="en-US" sz="2500" b="1" dirty="0">
                <a:solidFill>
                  <a:srgbClr val="C9C2C0"/>
                </a:solidFill>
                <a:latin typeface="Gelasio" pitchFamily="34" charset="0"/>
                <a:ea typeface="Gelasio" pitchFamily="34" charset="-122"/>
                <a:cs typeface="Gelasio" pitchFamily="34" charset="-120"/>
              </a:rPr>
              <a:t>Test Set Predictions</a:t>
            </a:r>
            <a:endParaRPr lang="en-US" sz="2500" b="1" dirty="0"/>
          </a:p>
        </p:txBody>
      </p:sp>
      <p:sp>
        <p:nvSpPr>
          <p:cNvPr id="14" name="Text 8"/>
          <p:cNvSpPr/>
          <p:nvPr/>
        </p:nvSpPr>
        <p:spPr>
          <a:xfrm>
            <a:off x="1103090" y="3412580"/>
            <a:ext cx="3297545" cy="584211"/>
          </a:xfrm>
          <a:prstGeom prst="rect">
            <a:avLst/>
          </a:prstGeom>
          <a:noFill/>
          <a:ln/>
        </p:spPr>
        <p:txBody>
          <a:bodyPr wrap="square" lIns="0" tIns="0" rIns="0" bIns="0" rtlCol="0" anchor="t"/>
          <a:lstStyle/>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Obtained from the trained</a:t>
            </a:r>
          </a:p>
          <a:p>
            <a:pPr marL="0" indent="0" algn="ctr">
              <a:lnSpc>
                <a:spcPts val="1350"/>
              </a:lnSpc>
              <a:buNone/>
            </a:pPr>
            <a:endParaRPr lang="en-US" sz="2000" dirty="0">
              <a:solidFill>
                <a:srgbClr val="C9C2C0"/>
              </a:solidFill>
              <a:latin typeface="Gelasio" pitchFamily="34" charset="0"/>
              <a:ea typeface="Gelasio" pitchFamily="34" charset="-122"/>
              <a:cs typeface="Gelasio" pitchFamily="34" charset="-120"/>
            </a:endParaRPr>
          </a:p>
          <a:p>
            <a:pPr marL="0" indent="0" algn="ctr">
              <a:lnSpc>
                <a:spcPts val="1350"/>
              </a:lnSpc>
              <a:buNone/>
            </a:pPr>
            <a:r>
              <a:rPr lang="en-US" sz="2000" dirty="0">
                <a:solidFill>
                  <a:srgbClr val="C9C2C0"/>
                </a:solidFill>
                <a:latin typeface="Gelasio" pitchFamily="34" charset="0"/>
                <a:ea typeface="Gelasio" pitchFamily="34" charset="-122"/>
                <a:cs typeface="Gelasio" pitchFamily="34" charset="-120"/>
              </a:rPr>
              <a:t>model.</a:t>
            </a:r>
            <a:endParaRPr lang="en-US" sz="2000" dirty="0"/>
          </a:p>
        </p:txBody>
      </p:sp>
      <p:pic>
        <p:nvPicPr>
          <p:cNvPr id="15" name="Image 4" descr="preencoded.png"/>
          <p:cNvPicPr>
            <a:picLocks noChangeAspect="1"/>
          </p:cNvPicPr>
          <p:nvPr/>
        </p:nvPicPr>
        <p:blipFill>
          <a:blip r:embed="rId7"/>
          <a:stretch>
            <a:fillRect/>
          </a:stretch>
        </p:blipFill>
        <p:spPr>
          <a:xfrm>
            <a:off x="5692390" y="3145628"/>
            <a:ext cx="649123" cy="649123"/>
          </a:xfrm>
          <a:prstGeom prst="rect">
            <a:avLst/>
          </a:prstGeom>
        </p:spPr>
      </p:pic>
      <p:sp>
        <p:nvSpPr>
          <p:cNvPr id="16" name="Rectangle 15">
            <a:extLst>
              <a:ext uri="{FF2B5EF4-FFF2-40B4-BE49-F238E27FC236}">
                <a16:creationId xmlns:a16="http://schemas.microsoft.com/office/drawing/2014/main" id="{3B99F44A-82DA-538E-B61D-29D297AAE68C}"/>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4959" y="491371"/>
            <a:ext cx="4464725" cy="558046"/>
          </a:xfrm>
          <a:prstGeom prst="rect">
            <a:avLst/>
          </a:prstGeom>
          <a:noFill/>
          <a:ln/>
        </p:spPr>
        <p:txBody>
          <a:bodyPr wrap="none" lIns="0" tIns="0" rIns="0" bIns="0" rtlCol="0" anchor="t"/>
          <a:lstStyle/>
          <a:p>
            <a:pPr marL="0" indent="0" algn="l">
              <a:lnSpc>
                <a:spcPts val="4350"/>
              </a:lnSpc>
              <a:buNone/>
            </a:pPr>
            <a:r>
              <a:rPr lang="en-US" sz="3500" dirty="0">
                <a:solidFill>
                  <a:srgbClr val="D8B6A4"/>
                </a:solidFill>
                <a:latin typeface="Gelasio" pitchFamily="34" charset="0"/>
                <a:ea typeface="Gelasio" pitchFamily="34" charset="-122"/>
                <a:cs typeface="Gelasio" pitchFamily="34" charset="-120"/>
              </a:rPr>
              <a:t>Algorithm</a:t>
            </a:r>
            <a:endParaRPr lang="en-US" sz="3500" dirty="0"/>
          </a:p>
        </p:txBody>
      </p:sp>
      <p:sp>
        <p:nvSpPr>
          <p:cNvPr id="3" name="Text 1"/>
          <p:cNvSpPr/>
          <p:nvPr/>
        </p:nvSpPr>
        <p:spPr>
          <a:xfrm>
            <a:off x="624959" y="1406485"/>
            <a:ext cx="178475" cy="223123"/>
          </a:xfrm>
          <a:prstGeom prst="rect">
            <a:avLst/>
          </a:prstGeom>
          <a:noFill/>
          <a:ln/>
        </p:spPr>
        <p:txBody>
          <a:bodyPr wrap="none" lIns="0" tIns="0" rIns="0" bIns="0" rtlCol="0" anchor="t"/>
          <a:lstStyle/>
          <a:p>
            <a:pPr marL="0" indent="0" algn="l">
              <a:lnSpc>
                <a:spcPts val="2200"/>
              </a:lnSpc>
              <a:buNone/>
            </a:pPr>
            <a:r>
              <a:rPr lang="en-US" sz="1400" dirty="0">
                <a:solidFill>
                  <a:srgbClr val="C9C2C0"/>
                </a:solidFill>
                <a:latin typeface="Gelasio Light" pitchFamily="34" charset="0"/>
                <a:ea typeface="Gelasio Light" pitchFamily="34" charset="-122"/>
                <a:cs typeface="Gelasio Light" pitchFamily="34" charset="-120"/>
              </a:rPr>
              <a:t>01</a:t>
            </a:r>
            <a:endParaRPr lang="en-US" sz="1400" dirty="0"/>
          </a:p>
        </p:txBody>
      </p:sp>
      <p:sp>
        <p:nvSpPr>
          <p:cNvPr id="4" name="Shape 2"/>
          <p:cNvSpPr/>
          <p:nvPr/>
        </p:nvSpPr>
        <p:spPr>
          <a:xfrm>
            <a:off x="624959" y="1686878"/>
            <a:ext cx="6600944" cy="22860"/>
          </a:xfrm>
          <a:prstGeom prst="rect">
            <a:avLst/>
          </a:prstGeom>
          <a:solidFill>
            <a:srgbClr val="C49F8C"/>
          </a:solidFill>
          <a:ln/>
        </p:spPr>
      </p:sp>
      <p:sp>
        <p:nvSpPr>
          <p:cNvPr id="5" name="Text 3"/>
          <p:cNvSpPr/>
          <p:nvPr/>
        </p:nvSpPr>
        <p:spPr>
          <a:xfrm>
            <a:off x="624959" y="1821775"/>
            <a:ext cx="2232303" cy="278963"/>
          </a:xfrm>
          <a:prstGeom prst="rect">
            <a:avLst/>
          </a:prstGeom>
          <a:noFill/>
          <a:ln/>
        </p:spPr>
        <p:txBody>
          <a:bodyPr wrap="none" lIns="0" tIns="0" rIns="0" bIns="0" rtlCol="0" anchor="t"/>
          <a:lstStyle/>
          <a:p>
            <a:pPr marL="0" indent="0" algn="l">
              <a:lnSpc>
                <a:spcPts val="2150"/>
              </a:lnSpc>
              <a:buNone/>
            </a:pPr>
            <a:r>
              <a:rPr lang="en-US" sz="1750" dirty="0">
                <a:solidFill>
                  <a:srgbClr val="C9C2C0"/>
                </a:solidFill>
                <a:latin typeface="Gelasio" pitchFamily="34" charset="0"/>
                <a:ea typeface="Gelasio" pitchFamily="34" charset="-122"/>
                <a:cs typeface="Gelasio" pitchFamily="34" charset="-120"/>
              </a:rPr>
              <a:t>Data Collection</a:t>
            </a:r>
            <a:endParaRPr lang="en-US" sz="1750" dirty="0"/>
          </a:p>
        </p:txBody>
      </p:sp>
      <p:sp>
        <p:nvSpPr>
          <p:cNvPr id="6" name="Text 4"/>
          <p:cNvSpPr/>
          <p:nvPr/>
        </p:nvSpPr>
        <p:spPr>
          <a:xfrm>
            <a:off x="624959" y="2207776"/>
            <a:ext cx="6600944" cy="571500"/>
          </a:xfrm>
          <a:prstGeom prst="rect">
            <a:avLst/>
          </a:prstGeom>
          <a:noFill/>
          <a:ln/>
        </p:spPr>
        <p:txBody>
          <a:bodyPr wrap="squar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Collect cattle images research datasets, online repositories, journals or, uncurated data from Kaggle and GitHub</a:t>
            </a:r>
            <a:endParaRPr lang="en-US" sz="1400" dirty="0"/>
          </a:p>
        </p:txBody>
      </p:sp>
      <p:sp>
        <p:nvSpPr>
          <p:cNvPr id="7" name="Text 5"/>
          <p:cNvSpPr/>
          <p:nvPr/>
        </p:nvSpPr>
        <p:spPr>
          <a:xfrm>
            <a:off x="624959" y="2841665"/>
            <a:ext cx="6600944"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Label each image with its correct cattle breed.</a:t>
            </a:r>
            <a:endParaRPr lang="en-US" sz="1400" dirty="0"/>
          </a:p>
        </p:txBody>
      </p:sp>
      <p:sp>
        <p:nvSpPr>
          <p:cNvPr id="8" name="Text 6"/>
          <p:cNvSpPr/>
          <p:nvPr/>
        </p:nvSpPr>
        <p:spPr>
          <a:xfrm>
            <a:off x="7404378" y="1406485"/>
            <a:ext cx="178475" cy="223123"/>
          </a:xfrm>
          <a:prstGeom prst="rect">
            <a:avLst/>
          </a:prstGeom>
          <a:noFill/>
          <a:ln/>
        </p:spPr>
        <p:txBody>
          <a:bodyPr wrap="none" lIns="0" tIns="0" rIns="0" bIns="0" rtlCol="0" anchor="t"/>
          <a:lstStyle/>
          <a:p>
            <a:pPr marL="0" indent="0" algn="l">
              <a:lnSpc>
                <a:spcPts val="2200"/>
              </a:lnSpc>
              <a:buNone/>
            </a:pPr>
            <a:r>
              <a:rPr lang="en-US" sz="1400" dirty="0">
                <a:solidFill>
                  <a:srgbClr val="C9C2C0"/>
                </a:solidFill>
                <a:latin typeface="Gelasio Light" pitchFamily="34" charset="0"/>
                <a:ea typeface="Gelasio Light" pitchFamily="34" charset="-122"/>
                <a:cs typeface="Gelasio Light" pitchFamily="34" charset="-120"/>
              </a:rPr>
              <a:t>02</a:t>
            </a:r>
            <a:endParaRPr lang="en-US" sz="1400" dirty="0"/>
          </a:p>
        </p:txBody>
      </p:sp>
      <p:sp>
        <p:nvSpPr>
          <p:cNvPr id="9" name="Shape 7"/>
          <p:cNvSpPr/>
          <p:nvPr/>
        </p:nvSpPr>
        <p:spPr>
          <a:xfrm>
            <a:off x="7404378" y="1686878"/>
            <a:ext cx="6601063" cy="22860"/>
          </a:xfrm>
          <a:prstGeom prst="rect">
            <a:avLst/>
          </a:prstGeom>
          <a:solidFill>
            <a:srgbClr val="C49F8C"/>
          </a:solidFill>
          <a:ln/>
        </p:spPr>
      </p:sp>
      <p:sp>
        <p:nvSpPr>
          <p:cNvPr id="10" name="Text 8"/>
          <p:cNvSpPr/>
          <p:nvPr/>
        </p:nvSpPr>
        <p:spPr>
          <a:xfrm>
            <a:off x="7404378" y="1821775"/>
            <a:ext cx="2232303" cy="278963"/>
          </a:xfrm>
          <a:prstGeom prst="rect">
            <a:avLst/>
          </a:prstGeom>
          <a:noFill/>
          <a:ln/>
        </p:spPr>
        <p:txBody>
          <a:bodyPr wrap="none" lIns="0" tIns="0" rIns="0" bIns="0" rtlCol="0" anchor="t"/>
          <a:lstStyle/>
          <a:p>
            <a:pPr marL="0" indent="0" algn="l">
              <a:lnSpc>
                <a:spcPts val="2150"/>
              </a:lnSpc>
              <a:buNone/>
            </a:pPr>
            <a:r>
              <a:rPr lang="en-US" sz="1750" dirty="0">
                <a:solidFill>
                  <a:srgbClr val="C9C2C0"/>
                </a:solidFill>
                <a:latin typeface="Gelasio" pitchFamily="34" charset="0"/>
                <a:ea typeface="Gelasio" pitchFamily="34" charset="-122"/>
                <a:cs typeface="Gelasio" pitchFamily="34" charset="-120"/>
              </a:rPr>
              <a:t>Data Pre-processing</a:t>
            </a:r>
            <a:endParaRPr lang="en-US" sz="1750" dirty="0"/>
          </a:p>
        </p:txBody>
      </p:sp>
      <p:sp>
        <p:nvSpPr>
          <p:cNvPr id="11" name="Text 9"/>
          <p:cNvSpPr/>
          <p:nvPr/>
        </p:nvSpPr>
        <p:spPr>
          <a:xfrm>
            <a:off x="7404378" y="2207776"/>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Resize each image to fixed dimensions.</a:t>
            </a:r>
            <a:endParaRPr lang="en-US" sz="1400" dirty="0"/>
          </a:p>
        </p:txBody>
      </p:sp>
      <p:sp>
        <p:nvSpPr>
          <p:cNvPr id="12" name="Text 10"/>
          <p:cNvSpPr/>
          <p:nvPr/>
        </p:nvSpPr>
        <p:spPr>
          <a:xfrm>
            <a:off x="7404378" y="2555915"/>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Normalize pixel values.</a:t>
            </a:r>
            <a:endParaRPr lang="en-US" sz="1400" dirty="0"/>
          </a:p>
        </p:txBody>
      </p:sp>
      <p:sp>
        <p:nvSpPr>
          <p:cNvPr id="13" name="Text 11"/>
          <p:cNvSpPr/>
          <p:nvPr/>
        </p:nvSpPr>
        <p:spPr>
          <a:xfrm>
            <a:off x="7404378" y="2904053"/>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Perform dataset split → Training (70%), Validation (15%), Testing (15%).</a:t>
            </a:r>
            <a:endParaRPr lang="en-US" sz="1400" dirty="0"/>
          </a:p>
        </p:txBody>
      </p:sp>
      <p:sp>
        <p:nvSpPr>
          <p:cNvPr id="14" name="Text 12"/>
          <p:cNvSpPr/>
          <p:nvPr/>
        </p:nvSpPr>
        <p:spPr>
          <a:xfrm>
            <a:off x="624959" y="3502104"/>
            <a:ext cx="178475" cy="223123"/>
          </a:xfrm>
          <a:prstGeom prst="rect">
            <a:avLst/>
          </a:prstGeom>
          <a:noFill/>
          <a:ln/>
        </p:spPr>
        <p:txBody>
          <a:bodyPr wrap="none" lIns="0" tIns="0" rIns="0" bIns="0" rtlCol="0" anchor="t"/>
          <a:lstStyle/>
          <a:p>
            <a:pPr marL="0" indent="0" algn="l">
              <a:lnSpc>
                <a:spcPts val="2200"/>
              </a:lnSpc>
              <a:buNone/>
            </a:pPr>
            <a:r>
              <a:rPr lang="en-US" sz="1400" dirty="0">
                <a:solidFill>
                  <a:srgbClr val="C9C2C0"/>
                </a:solidFill>
                <a:latin typeface="Gelasio Light" pitchFamily="34" charset="0"/>
                <a:ea typeface="Gelasio Light" pitchFamily="34" charset="-122"/>
                <a:cs typeface="Gelasio Light" pitchFamily="34" charset="-120"/>
              </a:rPr>
              <a:t>03</a:t>
            </a:r>
            <a:endParaRPr lang="en-US" sz="1400" dirty="0"/>
          </a:p>
        </p:txBody>
      </p:sp>
      <p:sp>
        <p:nvSpPr>
          <p:cNvPr id="15" name="Shape 13"/>
          <p:cNvSpPr/>
          <p:nvPr/>
        </p:nvSpPr>
        <p:spPr>
          <a:xfrm>
            <a:off x="624959" y="3782497"/>
            <a:ext cx="6600944" cy="22860"/>
          </a:xfrm>
          <a:prstGeom prst="rect">
            <a:avLst/>
          </a:prstGeom>
          <a:solidFill>
            <a:srgbClr val="C49F8C"/>
          </a:solidFill>
          <a:ln/>
        </p:spPr>
      </p:sp>
      <p:sp>
        <p:nvSpPr>
          <p:cNvPr id="16" name="Text 14"/>
          <p:cNvSpPr/>
          <p:nvPr/>
        </p:nvSpPr>
        <p:spPr>
          <a:xfrm>
            <a:off x="624959" y="3917394"/>
            <a:ext cx="2232303" cy="278963"/>
          </a:xfrm>
          <a:prstGeom prst="rect">
            <a:avLst/>
          </a:prstGeom>
          <a:noFill/>
          <a:ln/>
        </p:spPr>
        <p:txBody>
          <a:bodyPr wrap="none" lIns="0" tIns="0" rIns="0" bIns="0" rtlCol="0" anchor="t"/>
          <a:lstStyle/>
          <a:p>
            <a:pPr marL="0" indent="0" algn="l">
              <a:lnSpc>
                <a:spcPts val="2150"/>
              </a:lnSpc>
              <a:buNone/>
            </a:pPr>
            <a:r>
              <a:rPr lang="en-US" sz="1750" dirty="0">
                <a:solidFill>
                  <a:srgbClr val="C9C2C0"/>
                </a:solidFill>
                <a:latin typeface="Gelasio" pitchFamily="34" charset="0"/>
                <a:ea typeface="Gelasio" pitchFamily="34" charset="-122"/>
                <a:cs typeface="Gelasio" pitchFamily="34" charset="-120"/>
              </a:rPr>
              <a:t>Model Selection</a:t>
            </a:r>
            <a:endParaRPr lang="en-US" sz="1750" dirty="0"/>
          </a:p>
        </p:txBody>
      </p:sp>
      <p:sp>
        <p:nvSpPr>
          <p:cNvPr id="17" name="Text 15"/>
          <p:cNvSpPr/>
          <p:nvPr/>
        </p:nvSpPr>
        <p:spPr>
          <a:xfrm>
            <a:off x="624959" y="4303395"/>
            <a:ext cx="6600944"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DL Models for Image Classification like CNN.</a:t>
            </a:r>
            <a:endParaRPr lang="en-US" sz="1400" dirty="0"/>
          </a:p>
        </p:txBody>
      </p:sp>
      <p:sp>
        <p:nvSpPr>
          <p:cNvPr id="18" name="Text 16"/>
          <p:cNvSpPr/>
          <p:nvPr/>
        </p:nvSpPr>
        <p:spPr>
          <a:xfrm>
            <a:off x="624959" y="4651534"/>
            <a:ext cx="6600944"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Use pre-trained models like ResNet, VGG16 or MobileNet</a:t>
            </a:r>
            <a:endParaRPr lang="en-US" sz="1400" dirty="0"/>
          </a:p>
        </p:txBody>
      </p:sp>
      <p:sp>
        <p:nvSpPr>
          <p:cNvPr id="19" name="Text 17"/>
          <p:cNvSpPr/>
          <p:nvPr/>
        </p:nvSpPr>
        <p:spPr>
          <a:xfrm>
            <a:off x="7404378" y="3502104"/>
            <a:ext cx="178475" cy="223123"/>
          </a:xfrm>
          <a:prstGeom prst="rect">
            <a:avLst/>
          </a:prstGeom>
          <a:noFill/>
          <a:ln/>
        </p:spPr>
        <p:txBody>
          <a:bodyPr wrap="none" lIns="0" tIns="0" rIns="0" bIns="0" rtlCol="0" anchor="t"/>
          <a:lstStyle/>
          <a:p>
            <a:pPr marL="0" indent="0" algn="l">
              <a:lnSpc>
                <a:spcPts val="2200"/>
              </a:lnSpc>
              <a:buNone/>
            </a:pPr>
            <a:r>
              <a:rPr lang="en-US" sz="1400" dirty="0">
                <a:solidFill>
                  <a:srgbClr val="C9C2C0"/>
                </a:solidFill>
                <a:latin typeface="Gelasio Light" pitchFamily="34" charset="0"/>
                <a:ea typeface="Gelasio Light" pitchFamily="34" charset="-122"/>
                <a:cs typeface="Gelasio Light" pitchFamily="34" charset="-120"/>
              </a:rPr>
              <a:t>04</a:t>
            </a:r>
            <a:endParaRPr lang="en-US" sz="1400" dirty="0"/>
          </a:p>
        </p:txBody>
      </p:sp>
      <p:sp>
        <p:nvSpPr>
          <p:cNvPr id="20" name="Shape 18"/>
          <p:cNvSpPr/>
          <p:nvPr/>
        </p:nvSpPr>
        <p:spPr>
          <a:xfrm>
            <a:off x="7404378" y="3782497"/>
            <a:ext cx="6601063" cy="22860"/>
          </a:xfrm>
          <a:prstGeom prst="rect">
            <a:avLst/>
          </a:prstGeom>
          <a:solidFill>
            <a:srgbClr val="C49F8C"/>
          </a:solidFill>
          <a:ln/>
        </p:spPr>
      </p:sp>
      <p:sp>
        <p:nvSpPr>
          <p:cNvPr id="21" name="Text 19"/>
          <p:cNvSpPr/>
          <p:nvPr/>
        </p:nvSpPr>
        <p:spPr>
          <a:xfrm>
            <a:off x="7404378" y="3917394"/>
            <a:ext cx="2232303" cy="278963"/>
          </a:xfrm>
          <a:prstGeom prst="rect">
            <a:avLst/>
          </a:prstGeom>
          <a:noFill/>
          <a:ln/>
        </p:spPr>
        <p:txBody>
          <a:bodyPr wrap="none" lIns="0" tIns="0" rIns="0" bIns="0" rtlCol="0" anchor="t"/>
          <a:lstStyle/>
          <a:p>
            <a:pPr marL="0" indent="0" algn="l">
              <a:lnSpc>
                <a:spcPts val="2150"/>
              </a:lnSpc>
              <a:buNone/>
            </a:pPr>
            <a:r>
              <a:rPr lang="en-US" sz="1750" dirty="0">
                <a:solidFill>
                  <a:srgbClr val="C9C2C0"/>
                </a:solidFill>
                <a:latin typeface="Gelasio" pitchFamily="34" charset="0"/>
                <a:ea typeface="Gelasio" pitchFamily="34" charset="-122"/>
                <a:cs typeface="Gelasio" pitchFamily="34" charset="-120"/>
              </a:rPr>
              <a:t>Model Training</a:t>
            </a:r>
            <a:endParaRPr lang="en-US" sz="1750" dirty="0"/>
          </a:p>
        </p:txBody>
      </p:sp>
      <p:sp>
        <p:nvSpPr>
          <p:cNvPr id="22" name="Text 20"/>
          <p:cNvSpPr/>
          <p:nvPr/>
        </p:nvSpPr>
        <p:spPr>
          <a:xfrm>
            <a:off x="7404378" y="4303395"/>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Train each model on the training dataset.</a:t>
            </a:r>
            <a:endParaRPr lang="en-US" sz="1400" dirty="0"/>
          </a:p>
        </p:txBody>
      </p:sp>
      <p:sp>
        <p:nvSpPr>
          <p:cNvPr id="23" name="Text 21"/>
          <p:cNvSpPr/>
          <p:nvPr/>
        </p:nvSpPr>
        <p:spPr>
          <a:xfrm>
            <a:off x="7404378" y="4651534"/>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Use validation dataset for tuning hyperparameters and early stopping.</a:t>
            </a:r>
            <a:endParaRPr lang="en-US" sz="1400" dirty="0"/>
          </a:p>
        </p:txBody>
      </p:sp>
      <p:sp>
        <p:nvSpPr>
          <p:cNvPr id="24" name="Text 22"/>
          <p:cNvSpPr/>
          <p:nvPr/>
        </p:nvSpPr>
        <p:spPr>
          <a:xfrm>
            <a:off x="7404378" y="4999673"/>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Record training curves.</a:t>
            </a:r>
            <a:endParaRPr lang="en-US" sz="1400" dirty="0"/>
          </a:p>
        </p:txBody>
      </p:sp>
      <p:sp>
        <p:nvSpPr>
          <p:cNvPr id="25" name="Text 23"/>
          <p:cNvSpPr/>
          <p:nvPr/>
        </p:nvSpPr>
        <p:spPr>
          <a:xfrm>
            <a:off x="624959" y="5597723"/>
            <a:ext cx="178475" cy="223123"/>
          </a:xfrm>
          <a:prstGeom prst="rect">
            <a:avLst/>
          </a:prstGeom>
          <a:noFill/>
          <a:ln/>
        </p:spPr>
        <p:txBody>
          <a:bodyPr wrap="none" lIns="0" tIns="0" rIns="0" bIns="0" rtlCol="0" anchor="t"/>
          <a:lstStyle/>
          <a:p>
            <a:pPr marL="0" indent="0" algn="l">
              <a:lnSpc>
                <a:spcPts val="2200"/>
              </a:lnSpc>
              <a:buNone/>
            </a:pPr>
            <a:r>
              <a:rPr lang="en-US" sz="1400" dirty="0">
                <a:solidFill>
                  <a:srgbClr val="C9C2C0"/>
                </a:solidFill>
                <a:latin typeface="Gelasio Light" pitchFamily="34" charset="0"/>
                <a:ea typeface="Gelasio Light" pitchFamily="34" charset="-122"/>
                <a:cs typeface="Gelasio Light" pitchFamily="34" charset="-120"/>
              </a:rPr>
              <a:t>05</a:t>
            </a:r>
            <a:endParaRPr lang="en-US" sz="1400" dirty="0"/>
          </a:p>
        </p:txBody>
      </p:sp>
      <p:sp>
        <p:nvSpPr>
          <p:cNvPr id="26" name="Shape 24"/>
          <p:cNvSpPr/>
          <p:nvPr/>
        </p:nvSpPr>
        <p:spPr>
          <a:xfrm>
            <a:off x="624959" y="5878116"/>
            <a:ext cx="6600944" cy="22860"/>
          </a:xfrm>
          <a:prstGeom prst="rect">
            <a:avLst/>
          </a:prstGeom>
          <a:solidFill>
            <a:srgbClr val="C49F8C"/>
          </a:solidFill>
          <a:ln/>
        </p:spPr>
      </p:sp>
      <p:sp>
        <p:nvSpPr>
          <p:cNvPr id="27" name="Text 25"/>
          <p:cNvSpPr/>
          <p:nvPr/>
        </p:nvSpPr>
        <p:spPr>
          <a:xfrm>
            <a:off x="624959" y="6013013"/>
            <a:ext cx="2232303" cy="278963"/>
          </a:xfrm>
          <a:prstGeom prst="rect">
            <a:avLst/>
          </a:prstGeom>
          <a:noFill/>
          <a:ln/>
        </p:spPr>
        <p:txBody>
          <a:bodyPr wrap="none" lIns="0" tIns="0" rIns="0" bIns="0" rtlCol="0" anchor="t"/>
          <a:lstStyle/>
          <a:p>
            <a:pPr marL="0" indent="0" algn="l">
              <a:lnSpc>
                <a:spcPts val="2150"/>
              </a:lnSpc>
              <a:buNone/>
            </a:pPr>
            <a:r>
              <a:rPr lang="en-US" sz="1750" dirty="0">
                <a:solidFill>
                  <a:srgbClr val="C9C2C0"/>
                </a:solidFill>
                <a:latin typeface="Gelasio" pitchFamily="34" charset="0"/>
                <a:ea typeface="Gelasio" pitchFamily="34" charset="-122"/>
                <a:cs typeface="Gelasio" pitchFamily="34" charset="-120"/>
              </a:rPr>
              <a:t>Model Evaluation</a:t>
            </a:r>
            <a:endParaRPr lang="en-US" sz="1750" dirty="0"/>
          </a:p>
        </p:txBody>
      </p:sp>
      <p:sp>
        <p:nvSpPr>
          <p:cNvPr id="28" name="Text 26"/>
          <p:cNvSpPr/>
          <p:nvPr/>
        </p:nvSpPr>
        <p:spPr>
          <a:xfrm>
            <a:off x="624959" y="6399014"/>
            <a:ext cx="6600944"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Test each trained model on the test dataset.</a:t>
            </a:r>
            <a:endParaRPr lang="en-US" sz="1400" dirty="0"/>
          </a:p>
        </p:txBody>
      </p:sp>
      <p:sp>
        <p:nvSpPr>
          <p:cNvPr id="29" name="Text 27"/>
          <p:cNvSpPr/>
          <p:nvPr/>
        </p:nvSpPr>
        <p:spPr>
          <a:xfrm>
            <a:off x="624959" y="6747153"/>
            <a:ext cx="6600944" cy="857250"/>
          </a:xfrm>
          <a:prstGeom prst="rect">
            <a:avLst/>
          </a:prstGeom>
          <a:noFill/>
          <a:ln/>
        </p:spPr>
        <p:txBody>
          <a:bodyPr wrap="squar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Compute performance metrics: Accuracy, Precision, Recall, F1-score (per breed and macro-average), ROC curves and Precision-Recall curves, Confusion matrices</a:t>
            </a:r>
            <a:endParaRPr lang="en-US" sz="1400" dirty="0"/>
          </a:p>
        </p:txBody>
      </p:sp>
      <p:sp>
        <p:nvSpPr>
          <p:cNvPr id="30" name="Text 28"/>
          <p:cNvSpPr/>
          <p:nvPr/>
        </p:nvSpPr>
        <p:spPr>
          <a:xfrm>
            <a:off x="7404378" y="5597723"/>
            <a:ext cx="178475" cy="223123"/>
          </a:xfrm>
          <a:prstGeom prst="rect">
            <a:avLst/>
          </a:prstGeom>
          <a:noFill/>
          <a:ln/>
        </p:spPr>
        <p:txBody>
          <a:bodyPr wrap="none" lIns="0" tIns="0" rIns="0" bIns="0" rtlCol="0" anchor="t"/>
          <a:lstStyle/>
          <a:p>
            <a:pPr marL="0" indent="0" algn="l">
              <a:lnSpc>
                <a:spcPts val="2200"/>
              </a:lnSpc>
              <a:buNone/>
            </a:pPr>
            <a:r>
              <a:rPr lang="en-US" sz="1400" dirty="0">
                <a:solidFill>
                  <a:srgbClr val="C9C2C0"/>
                </a:solidFill>
                <a:latin typeface="Gelasio Light" pitchFamily="34" charset="0"/>
                <a:ea typeface="Gelasio Light" pitchFamily="34" charset="-122"/>
                <a:cs typeface="Gelasio Light" pitchFamily="34" charset="-120"/>
              </a:rPr>
              <a:t>06</a:t>
            </a:r>
            <a:endParaRPr lang="en-US" sz="1400" dirty="0"/>
          </a:p>
        </p:txBody>
      </p:sp>
      <p:sp>
        <p:nvSpPr>
          <p:cNvPr id="31" name="Shape 29"/>
          <p:cNvSpPr/>
          <p:nvPr/>
        </p:nvSpPr>
        <p:spPr>
          <a:xfrm>
            <a:off x="7404378" y="5878116"/>
            <a:ext cx="6601063" cy="22860"/>
          </a:xfrm>
          <a:prstGeom prst="rect">
            <a:avLst/>
          </a:prstGeom>
          <a:solidFill>
            <a:srgbClr val="C49F8C"/>
          </a:solidFill>
          <a:ln/>
        </p:spPr>
      </p:sp>
      <p:sp>
        <p:nvSpPr>
          <p:cNvPr id="32" name="Text 30"/>
          <p:cNvSpPr/>
          <p:nvPr/>
        </p:nvSpPr>
        <p:spPr>
          <a:xfrm>
            <a:off x="7404378" y="6013013"/>
            <a:ext cx="2232303" cy="278963"/>
          </a:xfrm>
          <a:prstGeom prst="rect">
            <a:avLst/>
          </a:prstGeom>
          <a:noFill/>
          <a:ln/>
        </p:spPr>
        <p:txBody>
          <a:bodyPr wrap="none" lIns="0" tIns="0" rIns="0" bIns="0" rtlCol="0" anchor="t"/>
          <a:lstStyle/>
          <a:p>
            <a:pPr marL="0" indent="0" algn="l">
              <a:lnSpc>
                <a:spcPts val="2150"/>
              </a:lnSpc>
              <a:buNone/>
            </a:pPr>
            <a:r>
              <a:rPr lang="en-US" sz="1750" dirty="0">
                <a:solidFill>
                  <a:srgbClr val="C9C2C0"/>
                </a:solidFill>
                <a:latin typeface="Gelasio" pitchFamily="34" charset="0"/>
                <a:ea typeface="Gelasio" pitchFamily="34" charset="-122"/>
                <a:cs typeface="Gelasio" pitchFamily="34" charset="-120"/>
              </a:rPr>
              <a:t>Deployment</a:t>
            </a:r>
            <a:endParaRPr lang="en-US" sz="1750" dirty="0"/>
          </a:p>
        </p:txBody>
      </p:sp>
      <p:sp>
        <p:nvSpPr>
          <p:cNvPr id="33" name="Text 31"/>
          <p:cNvSpPr/>
          <p:nvPr/>
        </p:nvSpPr>
        <p:spPr>
          <a:xfrm>
            <a:off x="7404378" y="6399014"/>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Save the final trained model.</a:t>
            </a:r>
            <a:endParaRPr lang="en-US" sz="1400" dirty="0"/>
          </a:p>
        </p:txBody>
      </p:sp>
      <p:sp>
        <p:nvSpPr>
          <p:cNvPr id="34" name="Text 32"/>
          <p:cNvSpPr/>
          <p:nvPr/>
        </p:nvSpPr>
        <p:spPr>
          <a:xfrm>
            <a:off x="7404378" y="6747153"/>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Make UI and fix bugs.</a:t>
            </a:r>
            <a:endParaRPr lang="en-US" sz="1400" dirty="0"/>
          </a:p>
        </p:txBody>
      </p:sp>
      <p:sp>
        <p:nvSpPr>
          <p:cNvPr id="35" name="Text 33"/>
          <p:cNvSpPr/>
          <p:nvPr/>
        </p:nvSpPr>
        <p:spPr>
          <a:xfrm>
            <a:off x="7404378" y="7095292"/>
            <a:ext cx="6601063" cy="285750"/>
          </a:xfrm>
          <a:prstGeom prst="rect">
            <a:avLst/>
          </a:prstGeom>
          <a:noFill/>
          <a:ln/>
        </p:spPr>
        <p:txBody>
          <a:bodyPr wrap="none" lIns="0" tIns="0" rIns="0" bIns="0" rtlCol="0" anchor="t"/>
          <a:lstStyle/>
          <a:p>
            <a:pPr marL="342900" indent="-342900" algn="l">
              <a:lnSpc>
                <a:spcPts val="2200"/>
              </a:lnSpc>
              <a:buSzPct val="100000"/>
              <a:buChar char="•"/>
            </a:pPr>
            <a:r>
              <a:rPr lang="en-US" sz="1400" dirty="0">
                <a:solidFill>
                  <a:srgbClr val="C9C2C0"/>
                </a:solidFill>
                <a:latin typeface="Gelasio" pitchFamily="34" charset="0"/>
                <a:ea typeface="Gelasio" pitchFamily="34" charset="-122"/>
                <a:cs typeface="Gelasio" pitchFamily="34" charset="-120"/>
              </a:rPr>
              <a:t>Final testing and then deploying the project.</a:t>
            </a:r>
            <a:endParaRPr lang="en-US" sz="1400" dirty="0"/>
          </a:p>
        </p:txBody>
      </p:sp>
      <p:sp>
        <p:nvSpPr>
          <p:cNvPr id="36" name="Rectangle 35">
            <a:extLst>
              <a:ext uri="{FF2B5EF4-FFF2-40B4-BE49-F238E27FC236}">
                <a16:creationId xmlns:a16="http://schemas.microsoft.com/office/drawing/2014/main" id="{E8146369-B552-775F-7A87-9DD157BBCE92}"/>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8031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Evaluation</a:t>
            </a:r>
            <a:endParaRPr lang="en-US" sz="4450" dirty="0"/>
          </a:p>
        </p:txBody>
      </p:sp>
      <p:sp>
        <p:nvSpPr>
          <p:cNvPr id="3" name="Text 1"/>
          <p:cNvSpPr/>
          <p:nvPr/>
        </p:nvSpPr>
        <p:spPr>
          <a:xfrm>
            <a:off x="793790" y="2856071"/>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C49F8C"/>
                </a:solidFill>
                <a:latin typeface="Gelasio" pitchFamily="34" charset="0"/>
                <a:ea typeface="Gelasio" pitchFamily="34" charset="-122"/>
                <a:cs typeface="Gelasio" pitchFamily="34" charset="-120"/>
              </a:rPr>
              <a:t>Successes:</a:t>
            </a:r>
            <a:endParaRPr lang="en-US" sz="2650" dirty="0"/>
          </a:p>
        </p:txBody>
      </p:sp>
      <p:sp>
        <p:nvSpPr>
          <p:cNvPr id="4" name="Text 2"/>
          <p:cNvSpPr/>
          <p:nvPr/>
        </p:nvSpPr>
        <p:spPr>
          <a:xfrm>
            <a:off x="793790" y="3508177"/>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C9C2C0"/>
                </a:solidFill>
                <a:latin typeface="Gelasio" pitchFamily="34" charset="0"/>
                <a:ea typeface="Gelasio" pitchFamily="34" charset="-122"/>
                <a:cs typeface="Gelasio" pitchFamily="34" charset="-120"/>
              </a:rPr>
              <a:t>Demonstrated that automated cattle breed classification can reduce reliance on slow and inconsistent visual inspection.</a:t>
            </a:r>
            <a:endParaRPr lang="en-US" sz="2000" dirty="0"/>
          </a:p>
        </p:txBody>
      </p:sp>
      <p:sp>
        <p:nvSpPr>
          <p:cNvPr id="5" name="Text 3"/>
          <p:cNvSpPr/>
          <p:nvPr/>
        </p:nvSpPr>
        <p:spPr>
          <a:xfrm>
            <a:off x="793790" y="4676180"/>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C9C2C0"/>
                </a:solidFill>
                <a:latin typeface="Gelasio" pitchFamily="34" charset="0"/>
                <a:ea typeface="Gelasio" pitchFamily="34" charset="-122"/>
                <a:cs typeface="Gelasio" pitchFamily="34" charset="-120"/>
              </a:rPr>
              <a:t>Provided a comparison of multiple algorithms, giving practical insights into which methods perform better in livestock contexts.</a:t>
            </a:r>
            <a:endParaRPr lang="en-US" sz="2000" dirty="0"/>
          </a:p>
        </p:txBody>
      </p:sp>
      <p:sp>
        <p:nvSpPr>
          <p:cNvPr id="6" name="Text 4"/>
          <p:cNvSpPr/>
          <p:nvPr/>
        </p:nvSpPr>
        <p:spPr>
          <a:xfrm>
            <a:off x="793790" y="5844183"/>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C9C2C0"/>
                </a:solidFill>
                <a:latin typeface="Gelasio" pitchFamily="34" charset="0"/>
                <a:ea typeface="Gelasio" pitchFamily="34" charset="-122"/>
                <a:cs typeface="Gelasio" pitchFamily="34" charset="-120"/>
              </a:rPr>
              <a:t>Highlighted the potential of machine learning to support record-keeping and decision-making in farming.</a:t>
            </a:r>
            <a:endParaRPr lang="en-US" sz="2000" dirty="0"/>
          </a:p>
        </p:txBody>
      </p:sp>
      <p:sp>
        <p:nvSpPr>
          <p:cNvPr id="7" name="Text 5"/>
          <p:cNvSpPr/>
          <p:nvPr/>
        </p:nvSpPr>
        <p:spPr>
          <a:xfrm>
            <a:off x="7599521" y="2856071"/>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C49F8C"/>
                </a:solidFill>
                <a:latin typeface="Gelasio" pitchFamily="34" charset="0"/>
                <a:ea typeface="Gelasio" pitchFamily="34" charset="-122"/>
                <a:cs typeface="Gelasio" pitchFamily="34" charset="-120"/>
              </a:rPr>
              <a:t>Challenges:</a:t>
            </a:r>
            <a:endParaRPr lang="en-US" sz="2650" dirty="0"/>
          </a:p>
        </p:txBody>
      </p:sp>
      <p:sp>
        <p:nvSpPr>
          <p:cNvPr id="8" name="Text 6"/>
          <p:cNvSpPr/>
          <p:nvPr/>
        </p:nvSpPr>
        <p:spPr>
          <a:xfrm>
            <a:off x="7599521" y="3508177"/>
            <a:ext cx="6244709" cy="1451610"/>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C9C2C0"/>
                </a:solidFill>
                <a:latin typeface="Gelasio" pitchFamily="34" charset="0"/>
                <a:ea typeface="Gelasio" pitchFamily="34" charset="-122"/>
                <a:cs typeface="Gelasio" pitchFamily="34" charset="-120"/>
              </a:rPr>
              <a:t>Limited diversity in collected images reduced generalization across different conditions, making it difficult for the model to differentiate between similar looking breeds (like Gir and Sahiwal)</a:t>
            </a:r>
            <a:endParaRPr lang="en-US" sz="2000" dirty="0"/>
          </a:p>
        </p:txBody>
      </p:sp>
      <p:sp>
        <p:nvSpPr>
          <p:cNvPr id="9" name="Text 7"/>
          <p:cNvSpPr/>
          <p:nvPr/>
        </p:nvSpPr>
        <p:spPr>
          <a:xfrm>
            <a:off x="7599521" y="5039082"/>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C9C2C0"/>
                </a:solidFill>
                <a:latin typeface="Gelasio" pitchFamily="34" charset="0"/>
                <a:ea typeface="Gelasio" pitchFamily="34" charset="-122"/>
                <a:cs typeface="Gelasio" pitchFamily="34" charset="-120"/>
              </a:rPr>
              <a:t>Imbalance in breed representation made some cattle harder to classify accurately.</a:t>
            </a:r>
            <a:endParaRPr lang="en-US" sz="2000" dirty="0"/>
          </a:p>
        </p:txBody>
      </p:sp>
      <p:sp>
        <p:nvSpPr>
          <p:cNvPr id="10" name="Text 8"/>
          <p:cNvSpPr/>
          <p:nvPr/>
        </p:nvSpPr>
        <p:spPr>
          <a:xfrm>
            <a:off x="7599521" y="5844183"/>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C9C2C0"/>
                </a:solidFill>
                <a:latin typeface="Gelasio" pitchFamily="34" charset="0"/>
                <a:ea typeface="Gelasio" pitchFamily="34" charset="-122"/>
                <a:cs typeface="Gelasio" pitchFamily="34" charset="-120"/>
              </a:rPr>
              <a:t>Variations in lighting, camera quality, and posture introduced inconsistencies.</a:t>
            </a:r>
            <a:endParaRPr lang="en-US" sz="2000" dirty="0"/>
          </a:p>
        </p:txBody>
      </p:sp>
      <p:sp>
        <p:nvSpPr>
          <p:cNvPr id="11" name="Rectangle 10">
            <a:extLst>
              <a:ext uri="{FF2B5EF4-FFF2-40B4-BE49-F238E27FC236}">
                <a16:creationId xmlns:a16="http://schemas.microsoft.com/office/drawing/2014/main" id="{07CFE4F9-14F9-E729-0C37-BFB15293EAC2}"/>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Shape 2">
            <a:extLst>
              <a:ext uri="{FF2B5EF4-FFF2-40B4-BE49-F238E27FC236}">
                <a16:creationId xmlns:a16="http://schemas.microsoft.com/office/drawing/2014/main" id="{4F882AA1-31C1-C4B6-B8B9-646BA2E2A937}"/>
              </a:ext>
            </a:extLst>
          </p:cNvPr>
          <p:cNvSpPr/>
          <p:nvPr/>
        </p:nvSpPr>
        <p:spPr>
          <a:xfrm rot="5400000" flipV="1">
            <a:off x="4487820" y="5134143"/>
            <a:ext cx="4983725" cy="45719"/>
          </a:xfrm>
          <a:prstGeom prst="rect">
            <a:avLst/>
          </a:prstGeom>
          <a:solidFill>
            <a:srgbClr val="C49F8C"/>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0328" y="565904"/>
            <a:ext cx="5650230" cy="643176"/>
          </a:xfrm>
          <a:prstGeom prst="rect">
            <a:avLst/>
          </a:prstGeom>
          <a:noFill/>
          <a:ln/>
        </p:spPr>
        <p:txBody>
          <a:bodyPr wrap="none" lIns="0" tIns="0" rIns="0" bIns="0" rtlCol="0" anchor="t"/>
          <a:lstStyle/>
          <a:p>
            <a:pPr marL="0" indent="0" algn="l">
              <a:lnSpc>
                <a:spcPts val="5050"/>
              </a:lnSpc>
              <a:buNone/>
            </a:pPr>
            <a:r>
              <a:rPr lang="en-US" sz="4050" dirty="0">
                <a:solidFill>
                  <a:srgbClr val="D8B6A4"/>
                </a:solidFill>
                <a:latin typeface="Gelasio" pitchFamily="34" charset="0"/>
                <a:ea typeface="Gelasio" pitchFamily="34" charset="-122"/>
                <a:cs typeface="Gelasio" pitchFamily="34" charset="-120"/>
              </a:rPr>
              <a:t>Conclusion &amp; References</a:t>
            </a:r>
            <a:endParaRPr lang="en-US" sz="4050" dirty="0"/>
          </a:p>
        </p:txBody>
      </p:sp>
      <p:sp>
        <p:nvSpPr>
          <p:cNvPr id="3" name="Text 1"/>
          <p:cNvSpPr/>
          <p:nvPr/>
        </p:nvSpPr>
        <p:spPr>
          <a:xfrm>
            <a:off x="720328" y="1376839"/>
            <a:ext cx="13189744" cy="2305288"/>
          </a:xfrm>
          <a:prstGeom prst="rect">
            <a:avLst/>
          </a:prstGeom>
          <a:noFill/>
          <a:ln/>
        </p:spPr>
        <p:txBody>
          <a:bodyPr wrap="square" lIns="0" tIns="0" rIns="0" bIns="0" rtlCol="0" anchor="t"/>
          <a:lstStyle/>
          <a:p>
            <a:pPr marL="0" indent="0" algn="l">
              <a:lnSpc>
                <a:spcPts val="2550"/>
              </a:lnSpc>
              <a:buNone/>
            </a:pPr>
            <a:r>
              <a:rPr lang="en-US" dirty="0">
                <a:solidFill>
                  <a:srgbClr val="C9C2C0"/>
                </a:solidFill>
                <a:latin typeface="Gelasio" pitchFamily="34" charset="0"/>
                <a:ea typeface="Gelasio" pitchFamily="34" charset="-122"/>
                <a:cs typeface="Gelasio" pitchFamily="34" charset="-120"/>
              </a:rPr>
              <a:t>This project explored cattle breed classification using machine learning by comparing multiple algorithms and frameworks, including CNN, ResNet, PyTorch, SVM, Random Forest, KNN, and PCA. The findings showed that deep learning models, particularly PyTorch and CNN, provided the most reliable results, while classical approaches struggled with complex image data. The study confirmed that automated classification can reduce the subjectivity and inefficiency of traditional visual inspection, offering practical benefits for livestock management, breeding, and disease control. However, challenges such as limited dataset diversity, breed imbalance, and high computational demands remain. Overall, the project highlights both the potential and the limitations of current approaches, laying the groundwork for further improvements in data collection, lightweight models, and broader applications in precision livestock farming.</a:t>
            </a:r>
            <a:endParaRPr lang="en-US" dirty="0"/>
          </a:p>
        </p:txBody>
      </p:sp>
      <p:sp>
        <p:nvSpPr>
          <p:cNvPr id="4" name="Text 2"/>
          <p:cNvSpPr/>
          <p:nvPr/>
        </p:nvSpPr>
        <p:spPr>
          <a:xfrm>
            <a:off x="720328" y="4380881"/>
            <a:ext cx="3087172" cy="385882"/>
          </a:xfrm>
          <a:prstGeom prst="rect">
            <a:avLst/>
          </a:prstGeom>
          <a:noFill/>
          <a:ln/>
        </p:spPr>
        <p:txBody>
          <a:bodyPr wrap="none" lIns="0" tIns="0" rIns="0" bIns="0" rtlCol="0" anchor="t"/>
          <a:lstStyle/>
          <a:p>
            <a:pPr marL="0" indent="0" algn="l">
              <a:lnSpc>
                <a:spcPts val="3000"/>
              </a:lnSpc>
              <a:buNone/>
            </a:pPr>
            <a:r>
              <a:rPr lang="en-US" sz="2400" dirty="0">
                <a:solidFill>
                  <a:srgbClr val="D8B6A4"/>
                </a:solidFill>
                <a:latin typeface="Gelasio" pitchFamily="34" charset="0"/>
                <a:ea typeface="Gelasio" pitchFamily="34" charset="-122"/>
                <a:cs typeface="Gelasio" pitchFamily="34" charset="-120"/>
              </a:rPr>
              <a:t>References</a:t>
            </a:r>
            <a:endParaRPr lang="en-US" sz="2400" dirty="0"/>
          </a:p>
        </p:txBody>
      </p:sp>
      <p:sp>
        <p:nvSpPr>
          <p:cNvPr id="5" name="Text 3"/>
          <p:cNvSpPr/>
          <p:nvPr/>
        </p:nvSpPr>
        <p:spPr>
          <a:xfrm>
            <a:off x="720328" y="4929068"/>
            <a:ext cx="13189744" cy="329327"/>
          </a:xfrm>
          <a:prstGeom prst="rect">
            <a:avLst/>
          </a:prstGeom>
          <a:noFill/>
          <a:ln/>
        </p:spPr>
        <p:txBody>
          <a:bodyPr wrap="none" lIns="0" tIns="0" rIns="0" bIns="0" rtlCol="0" anchor="t"/>
          <a:lstStyle/>
          <a:p>
            <a:pPr marL="342900" indent="-342900" algn="l">
              <a:lnSpc>
                <a:spcPts val="2550"/>
              </a:lnSpc>
              <a:buSzPct val="100000"/>
              <a:buChar char="•"/>
            </a:pPr>
            <a:r>
              <a:rPr lang="en-US" dirty="0">
                <a:solidFill>
                  <a:srgbClr val="C9C2C0"/>
                </a:solidFill>
                <a:latin typeface="Gelasio" pitchFamily="34" charset="0"/>
                <a:ea typeface="Gelasio" pitchFamily="34" charset="-122"/>
                <a:cs typeface="Gelasio" pitchFamily="34" charset="-120"/>
              </a:rPr>
              <a:t>Journals and Research Papers-</a:t>
            </a:r>
            <a:endParaRPr lang="en-US" dirty="0"/>
          </a:p>
        </p:txBody>
      </p:sp>
      <p:sp>
        <p:nvSpPr>
          <p:cNvPr id="6" name="Text 4"/>
          <p:cNvSpPr/>
          <p:nvPr/>
        </p:nvSpPr>
        <p:spPr>
          <a:xfrm>
            <a:off x="720328" y="5330428"/>
            <a:ext cx="13189744" cy="329327"/>
          </a:xfrm>
          <a:prstGeom prst="rect">
            <a:avLst/>
          </a:prstGeom>
          <a:noFill/>
          <a:ln/>
        </p:spPr>
        <p:txBody>
          <a:bodyPr wrap="none" lIns="0" tIns="0" rIns="0" bIns="0" rtlCol="0" anchor="t"/>
          <a:lstStyle/>
          <a:p>
            <a:pPr marL="685800" lvl="1" indent="-342900" algn="l">
              <a:lnSpc>
                <a:spcPts val="2550"/>
              </a:lnSpc>
              <a:buSzPct val="100000"/>
              <a:buChar char="•"/>
            </a:pPr>
            <a:r>
              <a:rPr lang="en-US" dirty="0">
                <a:solidFill>
                  <a:srgbClr val="C9C2C0"/>
                </a:solidFill>
                <a:latin typeface="Gelasio" pitchFamily="34" charset="0"/>
                <a:ea typeface="Gelasio" pitchFamily="34" charset="-122"/>
                <a:cs typeface="Gelasio" pitchFamily="34" charset="-120"/>
              </a:rPr>
              <a:t>Cattle Breed Classification Techniques: Framework and Algorithm Evaluation by Journal of Propulsion Technology</a:t>
            </a:r>
            <a:endParaRPr lang="en-US" dirty="0"/>
          </a:p>
        </p:txBody>
      </p:sp>
      <p:sp>
        <p:nvSpPr>
          <p:cNvPr id="7" name="Text 5"/>
          <p:cNvSpPr/>
          <p:nvPr/>
        </p:nvSpPr>
        <p:spPr>
          <a:xfrm>
            <a:off x="720328" y="5731788"/>
            <a:ext cx="13189744" cy="329327"/>
          </a:xfrm>
          <a:prstGeom prst="rect">
            <a:avLst/>
          </a:prstGeom>
          <a:noFill/>
          <a:ln/>
        </p:spPr>
        <p:txBody>
          <a:bodyPr wrap="none" lIns="0" tIns="0" rIns="0" bIns="0" rtlCol="0" anchor="t"/>
          <a:lstStyle/>
          <a:p>
            <a:pPr marL="685800" lvl="1" indent="-342900" algn="l">
              <a:lnSpc>
                <a:spcPts val="2550"/>
              </a:lnSpc>
              <a:buSzPct val="100000"/>
              <a:buChar char="•"/>
            </a:pPr>
            <a:r>
              <a:rPr lang="en-US" dirty="0">
                <a:solidFill>
                  <a:srgbClr val="C9C2C0"/>
                </a:solidFill>
                <a:latin typeface="Gelasio" pitchFamily="34" charset="0"/>
                <a:ea typeface="Gelasio" pitchFamily="34" charset="-122"/>
                <a:cs typeface="Gelasio" pitchFamily="34" charset="-120"/>
              </a:rPr>
              <a:t>AI- enhanced real-time cattle identification system through tracking across various environments by Scientific Reports</a:t>
            </a:r>
            <a:endParaRPr lang="en-US" dirty="0"/>
          </a:p>
        </p:txBody>
      </p:sp>
      <p:sp>
        <p:nvSpPr>
          <p:cNvPr id="8" name="Text 6"/>
          <p:cNvSpPr/>
          <p:nvPr/>
        </p:nvSpPr>
        <p:spPr>
          <a:xfrm>
            <a:off x="720328" y="6133148"/>
            <a:ext cx="13189744" cy="329327"/>
          </a:xfrm>
          <a:prstGeom prst="rect">
            <a:avLst/>
          </a:prstGeom>
          <a:noFill/>
          <a:ln/>
        </p:spPr>
        <p:txBody>
          <a:bodyPr wrap="none" lIns="0" tIns="0" rIns="0" bIns="0" rtlCol="0" anchor="t"/>
          <a:lstStyle/>
          <a:p>
            <a:pPr marL="685800" lvl="1" indent="-342900" algn="l">
              <a:lnSpc>
                <a:spcPts val="2550"/>
              </a:lnSpc>
              <a:buSzPct val="100000"/>
              <a:buChar char="•"/>
            </a:pPr>
            <a:r>
              <a:rPr lang="en-US" dirty="0">
                <a:solidFill>
                  <a:srgbClr val="C9C2C0"/>
                </a:solidFill>
                <a:latin typeface="Gelasio" pitchFamily="34" charset="0"/>
                <a:ea typeface="Gelasio" pitchFamily="34" charset="-122"/>
                <a:cs typeface="Gelasio" pitchFamily="34" charset="-120"/>
              </a:rPr>
              <a:t>Cowbree: A novel dataset for fine-grained visual categorization</a:t>
            </a:r>
            <a:endParaRPr lang="en-US" dirty="0"/>
          </a:p>
        </p:txBody>
      </p:sp>
      <p:sp>
        <p:nvSpPr>
          <p:cNvPr id="9" name="Text 7"/>
          <p:cNvSpPr/>
          <p:nvPr/>
        </p:nvSpPr>
        <p:spPr>
          <a:xfrm>
            <a:off x="720328" y="6534507"/>
            <a:ext cx="13189744" cy="329327"/>
          </a:xfrm>
          <a:prstGeom prst="rect">
            <a:avLst/>
          </a:prstGeom>
          <a:noFill/>
          <a:ln/>
        </p:spPr>
        <p:txBody>
          <a:bodyPr wrap="none" lIns="0" tIns="0" rIns="0" bIns="0" rtlCol="0" anchor="t"/>
          <a:lstStyle/>
          <a:p>
            <a:pPr marL="342900" indent="-342900" algn="l">
              <a:lnSpc>
                <a:spcPts val="2550"/>
              </a:lnSpc>
              <a:buSzPct val="100000"/>
              <a:buChar char="•"/>
            </a:pPr>
            <a:r>
              <a:rPr lang="en-US" dirty="0">
                <a:solidFill>
                  <a:srgbClr val="C9C2C0"/>
                </a:solidFill>
                <a:latin typeface="Gelasio" pitchFamily="34" charset="0"/>
                <a:ea typeface="Gelasio" pitchFamily="34" charset="-122"/>
                <a:cs typeface="Gelasio" pitchFamily="34" charset="-120"/>
              </a:rPr>
              <a:t>Websites-</a:t>
            </a:r>
            <a:endParaRPr lang="en-US" dirty="0"/>
          </a:p>
        </p:txBody>
      </p:sp>
      <p:sp>
        <p:nvSpPr>
          <p:cNvPr id="10" name="Text 8"/>
          <p:cNvSpPr/>
          <p:nvPr/>
        </p:nvSpPr>
        <p:spPr>
          <a:xfrm>
            <a:off x="720328" y="6935867"/>
            <a:ext cx="13189744" cy="329327"/>
          </a:xfrm>
          <a:prstGeom prst="rect">
            <a:avLst/>
          </a:prstGeom>
          <a:noFill/>
          <a:ln/>
        </p:spPr>
        <p:txBody>
          <a:bodyPr wrap="none" lIns="0" tIns="0" rIns="0" bIns="0" rtlCol="0" anchor="t"/>
          <a:lstStyle/>
          <a:p>
            <a:pPr marL="685800" lvl="1" indent="-342900" algn="l">
              <a:lnSpc>
                <a:spcPts val="2550"/>
              </a:lnSpc>
              <a:buSzPct val="100000"/>
              <a:buChar char="•"/>
            </a:pPr>
            <a:r>
              <a:rPr lang="en-US" u="sng" dirty="0">
                <a:solidFill>
                  <a:srgbClr val="C49F8C"/>
                </a:solidFill>
                <a:latin typeface="Gelasio" pitchFamily="34" charset="0"/>
                <a:ea typeface="Gelasio" pitchFamily="34" charset="-122"/>
                <a:cs typeface="Gelasio" pitchFamily="34" charset="-120"/>
                <a:hlinkClick r:id="rId3">
                  <a:extLst>
                    <a:ext uri="{A12FA001-AC4F-418D-AE19-62706E023703}">
                      <ahyp:hlinkClr xmlns:ahyp="http://schemas.microsoft.com/office/drawing/2018/hyperlinkcolor" val="tx"/>
                    </a:ext>
                  </a:extLst>
                </a:hlinkClick>
              </a:rPr>
              <a:t>https://eudl.eu/pdf/10.4108/eai.23-11-2023.2343338?/</a:t>
            </a:r>
            <a:endParaRPr lang="en-US" dirty="0"/>
          </a:p>
        </p:txBody>
      </p:sp>
      <p:sp>
        <p:nvSpPr>
          <p:cNvPr id="11" name="Text 9"/>
          <p:cNvSpPr/>
          <p:nvPr/>
        </p:nvSpPr>
        <p:spPr>
          <a:xfrm>
            <a:off x="720328" y="7337227"/>
            <a:ext cx="13189744" cy="329327"/>
          </a:xfrm>
          <a:prstGeom prst="rect">
            <a:avLst/>
          </a:prstGeom>
          <a:noFill/>
          <a:ln/>
        </p:spPr>
        <p:txBody>
          <a:bodyPr wrap="none" lIns="0" tIns="0" rIns="0" bIns="0" rtlCol="0" anchor="t"/>
          <a:lstStyle/>
          <a:p>
            <a:pPr marL="685800" lvl="1" indent="-342900" algn="l">
              <a:lnSpc>
                <a:spcPts val="2550"/>
              </a:lnSpc>
              <a:buSzPct val="100000"/>
              <a:buChar char="•"/>
            </a:pPr>
            <a:r>
              <a:rPr lang="en-US" dirty="0">
                <a:solidFill>
                  <a:srgbClr val="C9C2C0"/>
                </a:solidFill>
                <a:latin typeface="Gelasio" pitchFamily="34" charset="0"/>
                <a:ea typeface="Gelasio" pitchFamily="34" charset="-122"/>
                <a:cs typeface="Gelasio" pitchFamily="34" charset="-120"/>
              </a:rPr>
              <a:t>https://www.sciencedirect.com/science/article/pii/S2352340924000970?/</a:t>
            </a:r>
            <a:endParaRPr lang="en-US" dirty="0"/>
          </a:p>
        </p:txBody>
      </p:sp>
      <p:sp>
        <p:nvSpPr>
          <p:cNvPr id="12" name="Rectangle 11">
            <a:extLst>
              <a:ext uri="{FF2B5EF4-FFF2-40B4-BE49-F238E27FC236}">
                <a16:creationId xmlns:a16="http://schemas.microsoft.com/office/drawing/2014/main" id="{A7408316-228F-E153-299B-0038E69BAE48}"/>
              </a:ext>
            </a:extLst>
          </p:cNvPr>
          <p:cNvSpPr/>
          <p:nvPr/>
        </p:nvSpPr>
        <p:spPr>
          <a:xfrm>
            <a:off x="12704064" y="7595616"/>
            <a:ext cx="1889760" cy="597408"/>
          </a:xfrm>
          <a:prstGeom prst="rect">
            <a:avLst/>
          </a:prstGeom>
          <a:solidFill>
            <a:srgbClr val="464342"/>
          </a:solidFill>
          <a:ln>
            <a:solidFill>
              <a:srgbClr val="4643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987</Words>
  <Application>Microsoft Office PowerPoint</Application>
  <PresentationFormat>Custom</PresentationFormat>
  <Paragraphs>114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Gelasio</vt:lpstr>
      <vt:lpstr>Gelasio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sanskarp2307@gmail.com</cp:lastModifiedBy>
  <cp:revision>7</cp:revision>
  <dcterms:created xsi:type="dcterms:W3CDTF">2025-09-23T17:45:29Z</dcterms:created>
  <dcterms:modified xsi:type="dcterms:W3CDTF">2025-09-24T04:48:38Z</dcterms:modified>
</cp:coreProperties>
</file>